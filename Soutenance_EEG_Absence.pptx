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127bbd0-6e62-8945-b57c-ba786339adfb}">
          <p14:sldIdLst>
            <p14:sldId id="256"/>
            <p14:sldId id="257"/>
          </p14:sldIdLst>
        </p14:section>
        <p14:section name="Méthode" id="{c2ba9590-c0fb-5ecd-8eb5-c9289db0e1e4}">
          <p14:sldIdLst>
            <p14:sldId id="258"/>
            <p14:sldId id="259"/>
            <p14:sldId id="260"/>
          </p14:sldIdLst>
        </p14:section>
        <p14:section name="Évaluation" id="{cee57e23-66c1-1576-c7c0-ff37592e5c9c}">
          <p14:sldIdLst>
            <p14:sldId id="261"/>
            <p14:sldId id="262"/>
          </p14:sldIdLst>
        </p14:section>
        <p14:section name="Résultats" id="{783dbbd8-5281-a293-2839-9b3b29c8929d}">
          <p14:sldIdLst>
            <p14:sldId id="263"/>
            <p14:sldId id="264"/>
            <p14:sldId id="265"/>
          </p14:sldIdLst>
        </p14:section>
        <p14:section name="Conclusion" id="{0473b3b3-d908-30fe-6a71-966ff6c6918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22B32"/>
                </a:solidFill>
                <a:latin typeface="+mn-lt"/>
              </a:defRPr>
            </a:pPr>
            <a:r>
              <a:rPr sz="1600" b="0" i="0" u="none" strike="noStrike">
                <a:solidFill>
                  <a:srgbClr val="222B32"/>
                </a:solidFill>
                <a:latin typeface="+mn-lt"/>
              </a:rPr>
              <a:t>F1 · stratifié 80/20 (sujet)</a:t>
            </a:r>
          </a:p>
        </c:rich>
      </c:tx>
      <c:layout/>
      <c:overlay val="0"/>
    </c:title>
    <c:autoTitleDeleted val="0"/>
    <c:plotArea>
      <c:layout/>
      <c:barChart>
        <c:barDir val="col"/>
        <c:grouping val="clustered"/>
        <c:varyColors val="0"/>
        <c:ser>
          <c:idx val="0"/>
          <c:order val="0"/>
          <c:tx>
            <c:strRef>
              <c:f>Sheet1!$B$1</c:f>
              <c:strCache>
                <c:ptCount val="1"/>
                <c:pt idx="0">
                  <c:v>De base (seuil 0,5)</c:v>
                </c:pt>
              </c:strCache>
            </c:strRef>
          </c:tx>
          <c:spPr>
            <a:solidFill>
              <a:srgbClr val="8FA6B0"/>
            </a:solidFill>
            <a:effectLst/>
          </c:spPr>
          <c:invertIfNegative val="0"/>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cat>
            <c:multiLvlStrRef>
              <c:f>Sheet1!$A$2:$A$5</c:f>
              <c:multiLvlStrCache>
                <c:ptCount val="4"/>
                <c:lvl>
                  <c:pt idx="0">
                    <c:v>Decision Tree</c:v>
                  </c:pt>
                  <c:pt idx="1">
                    <c:v>Random Forest</c:v>
                  </c:pt>
                  <c:pt idx="2">
                    <c:v>KNN</c:v>
                  </c:pt>
                  <c:pt idx="3">
                    <c:v>SVM</c:v>
                  </c:pt>
                </c:lvl>
              </c:multiLvlStrCache>
            </c:multiLvlStrRef>
          </c:cat>
          <c:val>
            <c:numRef>
              <c:f>Sheet1!$B$2:$B$5</c:f>
              <c:numCache>
                <c:formatCode>General</c:formatCode>
                <c:ptCount val="4"/>
                <c:pt idx="0">
                  <c:v>0.54</c:v>
                </c:pt>
                <c:pt idx="1">
                  <c:v>0.771</c:v>
                </c:pt>
                <c:pt idx="2">
                  <c:v>0.688</c:v>
                </c:pt>
                <c:pt idx="3">
                  <c:v>0.621</c:v>
                </c:pt>
              </c:numCache>
            </c:numRef>
          </c:val>
        </c:ser>
        <c:ser>
          <c:idx val="1"/>
          <c:order val="1"/>
          <c:tx>
            <c:strRef>
              <c:f>Sheet1!$C$1</c:f>
              <c:strCache>
                <c:ptCount val="1"/>
                <c:pt idx="0">
                  <c:v>Augmentation + seuil appris</c:v>
                </c:pt>
              </c:strCache>
            </c:strRef>
          </c:tx>
          <c:spPr>
            <a:solidFill>
              <a:srgbClr val="14505C"/>
            </a:solidFill>
            <a:effectLst/>
          </c:spPr>
          <c:invertIfNegative val="0"/>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cat>
            <c:multiLvlStrRef>
              <c:f>Sheet1!$A$2:$A$5</c:f>
              <c:multiLvlStrCache>
                <c:ptCount val="4"/>
                <c:lvl>
                  <c:pt idx="0">
                    <c:v>Decision Tree</c:v>
                  </c:pt>
                  <c:pt idx="1">
                    <c:v>Random Forest</c:v>
                  </c:pt>
                  <c:pt idx="2">
                    <c:v>KNN</c:v>
                  </c:pt>
                  <c:pt idx="3">
                    <c:v>SVM</c:v>
                  </c:pt>
                </c:lvl>
              </c:multiLvlStrCache>
            </c:multiLvlStrRef>
          </c:cat>
          <c:val>
            <c:numRef>
              <c:f>Sheet1!$C$2:$C$5</c:f>
              <c:numCache>
                <c:formatCode>General</c:formatCode>
                <c:ptCount val="4"/>
                <c:pt idx="0">
                  <c:v>0.702</c:v>
                </c:pt>
                <c:pt idx="1">
                  <c:v>0.763</c:v>
                </c:pt>
                <c:pt idx="2">
                  <c:v>0.722</c:v>
                </c:pt>
                <c:pt idx="3">
                  <c:v>0.725</c:v>
                </c:pt>
              </c:numCache>
            </c:numRef>
          </c:val>
        </c:ser>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22B3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8636D"/>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222B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22B32"/>
                </a:solidFill>
                <a:latin typeface="+mn-lt"/>
              </a:defRPr>
            </a:pPr>
            <a:r>
              <a:rPr sz="1600" b="0" i="0" u="none" strike="noStrike">
                <a:solidFill>
                  <a:srgbClr val="222B32"/>
                </a:solidFill>
                <a:latin typeface="+mn-lt"/>
              </a:rPr>
              <a:t>F1 · un patient laissé de côté</a:t>
            </a:r>
          </a:p>
        </c:rich>
      </c:tx>
      <c:layout/>
      <c:overlay val="0"/>
    </c:title>
    <c:autoTitleDeleted val="0"/>
    <c:plotArea>
      <c:layout/>
      <c:barChart>
        <c:barDir val="col"/>
        <c:grouping val="clustered"/>
        <c:varyColors val="0"/>
        <c:ser>
          <c:idx val="0"/>
          <c:order val="0"/>
          <c:tx>
            <c:strRef>
              <c:f>Sheet1!$B$1</c:f>
              <c:strCache>
                <c:ptCount val="1"/>
                <c:pt idx="0">
                  <c:v>De base (seuil 0,5)</c:v>
                </c:pt>
              </c:strCache>
            </c:strRef>
          </c:tx>
          <c:spPr>
            <a:solidFill>
              <a:srgbClr val="8FA6B0"/>
            </a:solidFill>
            <a:effectLst/>
          </c:spPr>
          <c:invertIfNegative val="0"/>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cat>
            <c:multiLvlStrRef>
              <c:f>Sheet1!$A$2:$A$5</c:f>
              <c:multiLvlStrCache>
                <c:ptCount val="4"/>
                <c:lvl>
                  <c:pt idx="0">
                    <c:v>Decision Tree</c:v>
                  </c:pt>
                  <c:pt idx="1">
                    <c:v>Random Forest</c:v>
                  </c:pt>
                  <c:pt idx="2">
                    <c:v>KNN</c:v>
                  </c:pt>
                  <c:pt idx="3">
                    <c:v>SVM</c:v>
                  </c:pt>
                </c:lvl>
              </c:multiLvlStrCache>
            </c:multiLvlStrRef>
          </c:cat>
          <c:val>
            <c:numRef>
              <c:f>Sheet1!$B$2:$B$5</c:f>
              <c:numCache>
                <c:formatCode>General</c:formatCode>
                <c:ptCount val="4"/>
                <c:pt idx="0">
                  <c:v>0.463</c:v>
                </c:pt>
                <c:pt idx="1">
                  <c:v>0.64</c:v>
                </c:pt>
                <c:pt idx="2">
                  <c:v>0.647</c:v>
                </c:pt>
                <c:pt idx="3">
                  <c:v>0.522</c:v>
                </c:pt>
              </c:numCache>
            </c:numRef>
          </c:val>
        </c:ser>
        <c:ser>
          <c:idx val="1"/>
          <c:order val="1"/>
          <c:tx>
            <c:strRef>
              <c:f>Sheet1!$C$1</c:f>
              <c:strCache>
                <c:ptCount val="1"/>
                <c:pt idx="0">
                  <c:v>Augmentation + seuil appris</c:v>
                </c:pt>
              </c:strCache>
            </c:strRef>
          </c:tx>
          <c:spPr>
            <a:solidFill>
              <a:srgbClr val="14505C"/>
            </a:solidFill>
            <a:effectLst/>
          </c:spPr>
          <c:invertIfNegative val="0"/>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cat>
            <c:multiLvlStrRef>
              <c:f>Sheet1!$A$2:$A$5</c:f>
              <c:multiLvlStrCache>
                <c:ptCount val="4"/>
                <c:lvl>
                  <c:pt idx="0">
                    <c:v>Decision Tree</c:v>
                  </c:pt>
                  <c:pt idx="1">
                    <c:v>Random Forest</c:v>
                  </c:pt>
                  <c:pt idx="2">
                    <c:v>KNN</c:v>
                  </c:pt>
                  <c:pt idx="3">
                    <c:v>SVM</c:v>
                  </c:pt>
                </c:lvl>
              </c:multiLvlStrCache>
            </c:multiLvlStrRef>
          </c:cat>
          <c:val>
            <c:numRef>
              <c:f>Sheet1!$C$2:$C$5</c:f>
              <c:numCache>
                <c:formatCode>General</c:formatCode>
                <c:ptCount val="4"/>
                <c:pt idx="0">
                  <c:v>0.629</c:v>
                </c:pt>
                <c:pt idx="1">
                  <c:v>0.663</c:v>
                </c:pt>
                <c:pt idx="2">
                  <c:v>0.645</c:v>
                </c:pt>
                <c:pt idx="3">
                  <c:v>0.607</c:v>
                </c:pt>
              </c:numCache>
            </c:numRef>
          </c:val>
        </c:ser>
        <c:dLbls>
          <c:numFmt formatCode="0.00" sourceLinked="0"/>
          <c:txPr>
            <a:bodyPr/>
            <a:lstStyle/>
            <a:p>
              <a:pPr>
                <a:defRPr b="0" i="0" strike="noStrike" sz="1200" u="none">
                  <a:solidFill>
                    <a:srgbClr val="222B3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22B3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DE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8636D"/>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222B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22B32"/>
                </a:solidFill>
                <a:latin typeface="+mn-lt"/>
              </a:defRPr>
            </a:pPr>
            <a:r>
              <a:rPr sz="1600" b="0" i="0" u="none" strike="noStrike">
                <a:solidFill>
                  <a:srgbClr val="222B32"/>
                </a:solidFill>
                <a:latin typeface="+mn-lt"/>
              </a:rPr>
              <a:t>AUC selon le délai avant la crise (0,5 = hasard)</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14505C"/>
            </a:solidFill>
            <a:effectLst/>
          </c:spPr>
          <c:invertIfNegative val="0"/>
          <c:dLbls>
            <c:numFmt formatCode="0.00" sourceLinked="0"/>
            <c:txPr>
              <a:bodyPr/>
              <a:lstStyle/>
              <a:p>
                <a:pPr>
                  <a:defRPr b="0" i="0" strike="noStrike" sz="1300" u="none">
                    <a:solidFill>
                      <a:srgbClr val="222B32"/>
                    </a:solidFill>
                    <a:latin typeface="+mn-lt"/>
                  </a:defRPr>
                </a:pPr>
              </a:p>
            </c:txPr>
            <c:showLegendKey val="0"/>
            <c:showVal val="1"/>
            <c:showCatName val="0"/>
            <c:showSerName val="0"/>
            <c:showPercent val="0"/>
            <c:showBubbleSize val="0"/>
            <c:showLeaderLines val="0"/>
          </c:dLbls>
          <c:cat>
            <c:multiLvlStrRef>
              <c:f>Sheet1!$A$2:$A$5</c:f>
              <c:multiLvlStrCache>
                <c:ptCount val="4"/>
                <c:lvl>
                  <c:pt idx="0">
                    <c:v>0-5 s</c:v>
                  </c:pt>
                  <c:pt idx="1">
                    <c:v>5-10 s</c:v>
                  </c:pt>
                  <c:pt idx="2">
                    <c:v>10-20 s</c:v>
                  </c:pt>
                  <c:pt idx="3">
                    <c:v>20-30 s</c:v>
                  </c:pt>
                </c:lvl>
              </c:multiLvlStrCache>
            </c:multiLvlStrRef>
          </c:cat>
          <c:val>
            <c:numRef>
              <c:f>Sheet1!$B$2:$B$5</c:f>
              <c:numCache>
                <c:formatCode>General</c:formatCode>
                <c:ptCount val="4"/>
                <c:pt idx="0">
                  <c:v>0.66</c:v>
                </c:pt>
                <c:pt idx="1">
                  <c:v>0.642</c:v>
                </c:pt>
                <c:pt idx="2">
                  <c:v>0.637</c:v>
                </c:pt>
                <c:pt idx="3">
                  <c:v>0.625</c:v>
                </c:pt>
              </c:numCache>
            </c:numRef>
          </c:val>
        </c:ser>
        <c:dLbls>
          <c:numFmt formatCode="0.00" sourceLinked="0"/>
          <c:txPr>
            <a:bodyPr/>
            <a:lstStyle/>
            <a:p>
              <a:pPr>
                <a:defRPr b="0" i="0" strike="noStrike" sz="1300" u="none">
                  <a:solidFill>
                    <a:srgbClr val="222B3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22B32"/>
                </a:solidFill>
                <a:latin typeface="+mn-lt"/>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D5DE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8636D"/>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sujet en une phrase : on cherche automatiquement les crises d'absence dans des enregistrements EEG. Annoncer le plan : données, méthode, évaluation, résultats, détection, prévention,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absence est une courte perte de conscience (en moyenne 13 s) avec une signature EEG : des pointes-ondes à environ 3 Hz. Les crises sont rares : environ 3 % du temps. C'est tout le défi : un modèle qui ne dit jamais « crise » a 96 % d'Accuracy.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Chaîne complète. Prétraitement : filtre passe-bande 0,5 à 40 Hz puis normalisation robuste (médiane et IQR). Fenêtres de 2 s avec 50 % de recouvrement, soit une décision par seconde. 56 features par fenêtre, 15 retenues. Classification, puis reconstruction des intervalles avec lissage et durée minimale.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classement combine quatre critères. Les features de la bande à 3 Hz, la puissance relative et l'amplitude arrivent en tête : l'hypothèse physiologique des pointes-ondes est confirmée par les données. On retire les features trop corrélées (seuil 0,9) pour garder 15 caractéristiques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familles de modèles : règles (arbre), ensemble d'arbres (forêt), proximité (KNN), frontière à marge (SVM). Contre le déséquilibre : pondération des classes pour DT, RF et SVM, sous-échantillonnage pour le KNN qui n'a pas de pondération, et data augmentation des crises ajoutée pour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demande un split stratifié 80/20 sur les fenêtres. Il est optimiste : des fenêtres voisines presque identiques se retrouvent dans le train et dans le test. Le leave-one-patient-out entraîne sur 21 enregistrements et teste sur le 22e, jamais vu : c'est l'estimation de ce qui se passerait avec un nouveau patient. Le même Random Forest passe de F1 0,77 à 0,64.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96,5 % de fenêtres sans crise, un modèle qui répond toujours « pas de crise » a 96,5 % d'Accuracy mais ne détecte aucune crise. La Balanced Accuracy est la moyenne du Recall de chaque classe : ce même modèle obtient 50 %. Elle remplace l'Accuracy dans l'interface ; on la lit avec le Recall, la Précision, le F1 et la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améliorations : la data augmentation des crises (copies bruitées, train seulement) et un seuil appris sur 20 % du train au lieu de 0,5. Dans les deux protocoles les quatre modèles se rapprochent. Honnêtement : le gain est modeste et en partie un effet de seuil : un SVM sans augmentation rattrape l'essentiel avec le seuil appris. À présenter comme une tendance, les intervalles de confiance se recoupent avec seulement 82 crises.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classification, on reconstruit des intervalles (seuil, lissage sur 3 fenêtres, durée minimale 2 s) et on les apparie aux annotations avec un recouvrement minimal de 0,3. Appariement strict : chaque intervalle prédit ne compte que pour une crise. Le Random Forest est le plus sélectif (environ 4 fausses alarmes par heure), le KNN retrouve le plus de crises mais avec plus de fausses alarmes. Une fausse alarme peut être une crise non annotée : 210208B_G contient 3 salves visibles sans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testé si un modèle sait reconnaître les 30 secondes avant une crise par rapport à des fenêtres calmes, sur un enregistrement jamais vu. Il existe un petit signal, présent chez presque tous les patients, mais il est trop faible pour une alerte fiable (AUC environ 0,64 ; 0,5 = hasard) et il ne grandit pas à l'approche de la crise : cela ressemble plus à un état général qu'à un vrai précurseur. On le présente comme une piste.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Citer les limites avant le jury : peu de crises, étiquettes probablement incomplètes pour deux enregistrements, optimisme du split stratifié, seuil appris légèrement optimiste dans le cas par patient, hyperparamètres peu optimisés.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 une chaîne complète et reproductible, une évaluation honnête avec deux protocoles, la Balanced Accuracy, l'augmentation et le seuil appris qui rapprochent les modèles, une détection de 68 crises sur 82 pour le Random Forest (77 pour le KNN, avec plus de fausses alarmes), et une prévention qui reste une piste. Perspectives : faire valider les étiquettes, plus de patients, validation imbriquée, features inter-canaux, ECG pour la prévention. Proposer la démo de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chemeClr val="tx2"/>
                </a:solidFill>
              </a:rPr>
              <a:t>Détection des crises d'absence par EEG · Projet Data Mining 3AINFO</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chemeClr val="bg2"/>
                </a:solidFill>
              </a:rPr>
              <a:t>Détection des crises d'absence par EEG · Projet Data Mining 3AINFO</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ce EEG"/>
          <p:cNvSpPr/>
          <p:nvPr/>
        </p:nvSpPr>
        <p:spPr>
          <a:xfrm>
            <a:off x="548640" y="5029200"/>
            <a:ext cx="11064240" cy="1097280"/>
          </a:xfrm>
          <a:custGeom>
            <a:avLst/>
            <a:gdLst/>
            <a:ahLst/>
            <a:cxnLst/>
            <a:rect l="l" t="t" r="r" b="b"/>
            <a:pathLst>
              <a:path w="11064240" h="1097280">
                <a:moveTo>
                  <a:pt x="0" y="548640"/>
                </a:moveTo>
                <a:lnTo>
                  <a:pt x="69152" y="465611"/>
                </a:lnTo>
                <a:lnTo>
                  <a:pt x="138303" y="545918"/>
                </a:lnTo>
                <a:lnTo>
                  <a:pt x="207455" y="547144"/>
                </a:lnTo>
                <a:lnTo>
                  <a:pt x="276606" y="476748"/>
                </a:lnTo>
                <a:lnTo>
                  <a:pt x="345758" y="567289"/>
                </a:lnTo>
                <a:lnTo>
                  <a:pt x="414909" y="639188"/>
                </a:lnTo>
                <a:lnTo>
                  <a:pt x="484060" y="547759"/>
                </a:lnTo>
                <a:lnTo>
                  <a:pt x="553212" y="544684"/>
                </a:lnTo>
                <a:lnTo>
                  <a:pt x="622364" y="607352"/>
                </a:lnTo>
                <a:lnTo>
                  <a:pt x="691515" y="513162"/>
                </a:lnTo>
                <a:lnTo>
                  <a:pt x="760667" y="455342"/>
                </a:lnTo>
                <a:lnTo>
                  <a:pt x="829818" y="557920"/>
                </a:lnTo>
                <a:lnTo>
                  <a:pt x="898970" y="561110"/>
                </a:lnTo>
                <a:lnTo>
                  <a:pt x="968121" y="503358"/>
                </a:lnTo>
                <a:lnTo>
                  <a:pt x="1037272" y="597537"/>
                </a:lnTo>
                <a:lnTo>
                  <a:pt x="1106424" y="639332"/>
                </a:lnTo>
                <a:lnTo>
                  <a:pt x="1175576" y="526839"/>
                </a:lnTo>
                <a:lnTo>
                  <a:pt x="1244727" y="526168"/>
                </a:lnTo>
                <a:lnTo>
                  <a:pt x="1313879" y="582027"/>
                </a:lnTo>
                <a:lnTo>
                  <a:pt x="1383030" y="490898"/>
                </a:lnTo>
                <a:lnTo>
                  <a:pt x="1452182" y="465851"/>
                </a:lnTo>
                <a:lnTo>
                  <a:pt x="1521333" y="585859"/>
                </a:lnTo>
                <a:lnTo>
                  <a:pt x="1590485" y="580823"/>
                </a:lnTo>
                <a:lnTo>
                  <a:pt x="1659636" y="524066"/>
                </a:lnTo>
                <a:lnTo>
                  <a:pt x="1728788" y="610060"/>
                </a:lnTo>
                <a:lnTo>
                  <a:pt x="1797939" y="618926"/>
                </a:lnTo>
                <a:lnTo>
                  <a:pt x="1867091" y="494733"/>
                </a:lnTo>
                <a:lnTo>
                  <a:pt x="1936242" y="508794"/>
                </a:lnTo>
                <a:lnTo>
                  <a:pt x="2005393" y="568598"/>
                </a:lnTo>
                <a:lnTo>
                  <a:pt x="2074545" y="488656"/>
                </a:lnTo>
                <a:lnTo>
                  <a:pt x="2143697" y="494210"/>
                </a:lnTo>
                <a:lnTo>
                  <a:pt x="2212848" y="618684"/>
                </a:lnTo>
                <a:lnTo>
                  <a:pt x="2282000" y="592591"/>
                </a:lnTo>
                <a:lnTo>
                  <a:pt x="2351151" y="528560"/>
                </a:lnTo>
                <a:lnTo>
                  <a:pt x="2420303" y="602762"/>
                </a:lnTo>
                <a:lnTo>
                  <a:pt x="2489454" y="585504"/>
                </a:lnTo>
                <a:lnTo>
                  <a:pt x="2558606" y="464798"/>
                </a:lnTo>
                <a:lnTo>
                  <a:pt x="2627757" y="505206"/>
                </a:lnTo>
                <a:lnTo>
                  <a:pt x="2696909" y="573476"/>
                </a:lnTo>
                <a:lnTo>
                  <a:pt x="2766060" y="503576"/>
                </a:lnTo>
                <a:lnTo>
                  <a:pt x="2835211" y="529221"/>
                </a:lnTo>
                <a:lnTo>
                  <a:pt x="2904363" y="642415"/>
                </a:lnTo>
                <a:lnTo>
                  <a:pt x="2973514" y="586452"/>
                </a:lnTo>
                <a:lnTo>
                  <a:pt x="3042666" y="515147"/>
                </a:lnTo>
                <a:lnTo>
                  <a:pt x="3111817" y="583068"/>
                </a:lnTo>
                <a:lnTo>
                  <a:pt x="3180969" y="552520"/>
                </a:lnTo>
                <a:lnTo>
                  <a:pt x="3250121" y="449871"/>
                </a:lnTo>
                <a:lnTo>
                  <a:pt x="3319272" y="521392"/>
                </a:lnTo>
                <a:lnTo>
                  <a:pt x="3388424" y="593424"/>
                </a:lnTo>
                <a:lnTo>
                  <a:pt x="3457575" y="524632"/>
                </a:lnTo>
                <a:lnTo>
                  <a:pt x="3526726" y="556870"/>
                </a:lnTo>
                <a:lnTo>
                  <a:pt x="3595878" y="646976"/>
                </a:lnTo>
                <a:lnTo>
                  <a:pt x="3665029" y="561175"/>
                </a:lnTo>
                <a:lnTo>
                  <a:pt x="3734181" y="491574"/>
                </a:lnTo>
                <a:lnTo>
                  <a:pt x="3803333" y="564183"/>
                </a:lnTo>
                <a:lnTo>
                  <a:pt x="3872484" y="433987"/>
                </a:lnTo>
                <a:lnTo>
                  <a:pt x="3941636" y="466132"/>
                </a:lnTo>
                <a:lnTo>
                  <a:pt x="4010787" y="516200"/>
                </a:lnTo>
                <a:lnTo>
                  <a:pt x="4079939" y="579289"/>
                </a:lnTo>
                <a:lnTo>
                  <a:pt x="4149090" y="45720"/>
                </a:lnTo>
                <a:lnTo>
                  <a:pt x="4218241" y="45720"/>
                </a:lnTo>
                <a:lnTo>
                  <a:pt x="4287393" y="45720"/>
                </a:lnTo>
                <a:lnTo>
                  <a:pt x="4356544" y="832316"/>
                </a:lnTo>
                <a:lnTo>
                  <a:pt x="4425696" y="864461"/>
                </a:lnTo>
                <a:lnTo>
                  <a:pt x="4494847" y="875538"/>
                </a:lnTo>
                <a:lnTo>
                  <a:pt x="4563999" y="864461"/>
                </a:lnTo>
                <a:lnTo>
                  <a:pt x="4633151" y="832316"/>
                </a:lnTo>
                <a:lnTo>
                  <a:pt x="4702302" y="782248"/>
                </a:lnTo>
                <a:lnTo>
                  <a:pt x="4771454" y="719159"/>
                </a:lnTo>
                <a:lnTo>
                  <a:pt x="4840605" y="649224"/>
                </a:lnTo>
                <a:lnTo>
                  <a:pt x="4909757" y="579289"/>
                </a:lnTo>
                <a:lnTo>
                  <a:pt x="4978908" y="516200"/>
                </a:lnTo>
                <a:lnTo>
                  <a:pt x="5048060" y="466132"/>
                </a:lnTo>
                <a:lnTo>
                  <a:pt x="5117211" y="433987"/>
                </a:lnTo>
                <a:lnTo>
                  <a:pt x="5186363" y="422910"/>
                </a:lnTo>
                <a:lnTo>
                  <a:pt x="5255514" y="433987"/>
                </a:lnTo>
                <a:lnTo>
                  <a:pt x="5324666" y="466132"/>
                </a:lnTo>
                <a:lnTo>
                  <a:pt x="5393817" y="516200"/>
                </a:lnTo>
                <a:lnTo>
                  <a:pt x="5462969" y="579289"/>
                </a:lnTo>
                <a:lnTo>
                  <a:pt x="5532120" y="45720"/>
                </a:lnTo>
                <a:lnTo>
                  <a:pt x="5601271" y="45720"/>
                </a:lnTo>
                <a:lnTo>
                  <a:pt x="5670423" y="45720"/>
                </a:lnTo>
                <a:lnTo>
                  <a:pt x="5739575" y="832316"/>
                </a:lnTo>
                <a:lnTo>
                  <a:pt x="5808726" y="864461"/>
                </a:lnTo>
                <a:lnTo>
                  <a:pt x="5877878" y="875538"/>
                </a:lnTo>
                <a:lnTo>
                  <a:pt x="5947029" y="864461"/>
                </a:lnTo>
                <a:lnTo>
                  <a:pt x="6016180" y="832316"/>
                </a:lnTo>
                <a:lnTo>
                  <a:pt x="6085332" y="782248"/>
                </a:lnTo>
                <a:lnTo>
                  <a:pt x="6154484" y="719159"/>
                </a:lnTo>
                <a:lnTo>
                  <a:pt x="6223635" y="649224"/>
                </a:lnTo>
                <a:lnTo>
                  <a:pt x="6292787" y="579289"/>
                </a:lnTo>
                <a:lnTo>
                  <a:pt x="6361938" y="516200"/>
                </a:lnTo>
                <a:lnTo>
                  <a:pt x="6431090" y="466132"/>
                </a:lnTo>
                <a:lnTo>
                  <a:pt x="6500241" y="433987"/>
                </a:lnTo>
                <a:lnTo>
                  <a:pt x="6569393" y="422910"/>
                </a:lnTo>
                <a:lnTo>
                  <a:pt x="6638544" y="433987"/>
                </a:lnTo>
                <a:lnTo>
                  <a:pt x="6707695" y="466132"/>
                </a:lnTo>
                <a:lnTo>
                  <a:pt x="6776847" y="516200"/>
                </a:lnTo>
                <a:lnTo>
                  <a:pt x="6845999" y="579289"/>
                </a:lnTo>
                <a:lnTo>
                  <a:pt x="6915150" y="45720"/>
                </a:lnTo>
                <a:lnTo>
                  <a:pt x="6984302" y="45720"/>
                </a:lnTo>
                <a:lnTo>
                  <a:pt x="7053453" y="45720"/>
                </a:lnTo>
                <a:lnTo>
                  <a:pt x="7122605" y="832316"/>
                </a:lnTo>
                <a:lnTo>
                  <a:pt x="7191756" y="864461"/>
                </a:lnTo>
                <a:lnTo>
                  <a:pt x="7260908" y="647084"/>
                </a:lnTo>
                <a:lnTo>
                  <a:pt x="7330059" y="566097"/>
                </a:lnTo>
                <a:lnTo>
                  <a:pt x="7399211" y="520460"/>
                </a:lnTo>
                <a:lnTo>
                  <a:pt x="7468362" y="591245"/>
                </a:lnTo>
                <a:lnTo>
                  <a:pt x="7537513" y="531725"/>
                </a:lnTo>
                <a:lnTo>
                  <a:pt x="7606665" y="448289"/>
                </a:lnTo>
                <a:lnTo>
                  <a:pt x="7675817" y="542924"/>
                </a:lnTo>
                <a:lnTo>
                  <a:pt x="7744968" y="587498"/>
                </a:lnTo>
                <a:lnTo>
                  <a:pt x="7814120" y="517029"/>
                </a:lnTo>
                <a:lnTo>
                  <a:pt x="7883271" y="576744"/>
                </a:lnTo>
                <a:lnTo>
                  <a:pt x="7952423" y="645448"/>
                </a:lnTo>
                <a:lnTo>
                  <a:pt x="8021574" y="538946"/>
                </a:lnTo>
                <a:lnTo>
                  <a:pt x="8090726" y="498642"/>
                </a:lnTo>
                <a:lnTo>
                  <a:pt x="8159877" y="571674"/>
                </a:lnTo>
                <a:lnTo>
                  <a:pt x="8229029" y="514157"/>
                </a:lnTo>
                <a:lnTo>
                  <a:pt x="8298180" y="460443"/>
                </a:lnTo>
                <a:lnTo>
                  <a:pt x="8367332" y="575952"/>
                </a:lnTo>
                <a:lnTo>
                  <a:pt x="8436483" y="608435"/>
                </a:lnTo>
                <a:lnTo>
                  <a:pt x="8505635" y="530430"/>
                </a:lnTo>
                <a:lnTo>
                  <a:pt x="8574786" y="584426"/>
                </a:lnTo>
                <a:lnTo>
                  <a:pt x="8643938" y="624145"/>
                </a:lnTo>
                <a:lnTo>
                  <a:pt x="8713089" y="503265"/>
                </a:lnTo>
                <a:lnTo>
                  <a:pt x="8782241" y="482051"/>
                </a:lnTo>
                <a:lnTo>
                  <a:pt x="8851392" y="566599"/>
                </a:lnTo>
                <a:lnTo>
                  <a:pt x="8920544" y="516241"/>
                </a:lnTo>
                <a:lnTo>
                  <a:pt x="8989695" y="488443"/>
                </a:lnTo>
                <a:lnTo>
                  <a:pt x="9058847" y="610681"/>
                </a:lnTo>
                <a:lnTo>
                  <a:pt x="9127998" y="617714"/>
                </a:lnTo>
                <a:lnTo>
                  <a:pt x="9197150" y="526158"/>
                </a:lnTo>
                <a:lnTo>
                  <a:pt x="9266301" y="573943"/>
                </a:lnTo>
                <a:lnTo>
                  <a:pt x="9335453" y="592671"/>
                </a:lnTo>
                <a:lnTo>
                  <a:pt x="9404604" y="473017"/>
                </a:lnTo>
                <a:lnTo>
                  <a:pt x="9473755" y="482170"/>
                </a:lnTo>
                <a:lnTo>
                  <a:pt x="9542907" y="579972"/>
                </a:lnTo>
                <a:lnTo>
                  <a:pt x="9612059" y="532692"/>
                </a:lnTo>
                <a:lnTo>
                  <a:pt x="9681210" y="519805"/>
                </a:lnTo>
                <a:lnTo>
                  <a:pt x="9750362" y="633437"/>
                </a:lnTo>
                <a:lnTo>
                  <a:pt x="9819513" y="607259"/>
                </a:lnTo>
                <a:lnTo>
                  <a:pt x="9888665" y="505166"/>
                </a:lnTo>
                <a:lnTo>
                  <a:pt x="9957816" y="554707"/>
                </a:lnTo>
                <a:lnTo>
                  <a:pt x="10026968" y="564918"/>
                </a:lnTo>
                <a:lnTo>
                  <a:pt x="10096119" y="459869"/>
                </a:lnTo>
                <a:lnTo>
                  <a:pt x="10165270" y="502623"/>
                </a:lnTo>
                <a:lnTo>
                  <a:pt x="10234422" y="606051"/>
                </a:lnTo>
                <a:lnTo>
                  <a:pt x="10303574" y="551189"/>
                </a:lnTo>
                <a:lnTo>
                  <a:pt x="10372725" y="540985"/>
                </a:lnTo>
                <a:lnTo>
                  <a:pt x="10441876" y="636020"/>
                </a:lnTo>
                <a:lnTo>
                  <a:pt x="10511028" y="578385"/>
                </a:lnTo>
                <a:lnTo>
                  <a:pt x="10580180" y="477263"/>
                </a:lnTo>
                <a:lnTo>
                  <a:pt x="10649331" y="540357"/>
                </a:lnTo>
                <a:lnTo>
                  <a:pt x="10718482" y="552371"/>
                </a:lnTo>
                <a:lnTo>
                  <a:pt x="10787634" y="467530"/>
                </a:lnTo>
                <a:lnTo>
                  <a:pt x="10856786" y="537302"/>
                </a:lnTo>
                <a:lnTo>
                  <a:pt x="10925937" y="632202"/>
                </a:lnTo>
                <a:lnTo>
                  <a:pt x="10995089" y="558537"/>
                </a:lnTo>
                <a:lnTo>
                  <a:pt x="11064240" y="544000"/>
                </a:lnTo>
              </a:path>
            </a:pathLst>
          </a:custGeom>
          <a:solidFill>
            <a:schemeClr val="tx2">
              <a:alpha val="0"/>
            </a:schemeClr>
          </a:solidFill>
          <a:ln w="28575">
            <a:solidFill>
              <a:schemeClr val="accent3"/>
            </a:solidFill>
            <a:prstDash val="solid"/>
          </a:ln>
        </p:spPr>
      </p:sp>
      <p:sp>
        <p:nvSpPr>
          <p:cNvPr id="3" name="Titre"/>
          <p:cNvSpPr txBox="1"/>
          <p:nvPr/>
        </p:nvSpPr>
        <p:spPr>
          <a:xfrm>
            <a:off x="548640" y="1371600"/>
            <a:ext cx="11064240" cy="1371600"/>
          </a:xfrm>
          <a:prstGeom prst="rect">
            <a:avLst/>
          </a:prstGeom>
          <a:noFill/>
          <a:ln/>
        </p:spPr>
        <p:txBody>
          <a:bodyPr wrap="square" lIns="0" tIns="0" rIns="0" bIns="0" rtlCol="0" anchor="t"/>
          <a:lstStyle/>
          <a:p>
            <a:pPr indent="0" marL="0">
              <a:buNone/>
            </a:pPr>
            <a:r>
              <a:rPr lang="en-US" sz="4600" b="1" dirty="0">
                <a:solidFill>
                  <a:schemeClr val="bg1"/>
                </a:solidFill>
                <a:latin typeface="Cambria" pitchFamily="34" charset="0"/>
                <a:ea typeface="Cambria" pitchFamily="34" charset="-122"/>
                <a:cs typeface="Cambria" pitchFamily="34" charset="-120"/>
              </a:rPr>
              <a:t>Détection automatique des crises d'absence</a:t>
            </a:r>
            <a:endParaRPr lang="en-US" sz="4600" dirty="0"/>
          </a:p>
        </p:txBody>
      </p:sp>
      <p:sp>
        <p:nvSpPr>
          <p:cNvPr id="4" name="Sous-titre"/>
          <p:cNvSpPr txBox="1"/>
          <p:nvPr/>
        </p:nvSpPr>
        <p:spPr>
          <a:xfrm>
            <a:off x="548640" y="2697480"/>
            <a:ext cx="11064240" cy="640080"/>
          </a:xfrm>
          <a:prstGeom prst="rect">
            <a:avLst/>
          </a:prstGeom>
          <a:noFill/>
          <a:ln/>
        </p:spPr>
        <p:txBody>
          <a:bodyPr wrap="square" lIns="0" tIns="0" rIns="0" bIns="0" rtlCol="0" anchor="ctr"/>
          <a:lstStyle/>
          <a:p>
            <a:pPr indent="0" marL="0">
              <a:buNone/>
            </a:pPr>
            <a:r>
              <a:rPr lang="en-US" sz="3000" dirty="0">
                <a:solidFill>
                  <a:schemeClr val="accent3"/>
                </a:solidFill>
                <a:latin typeface="Cambria" pitchFamily="34" charset="0"/>
                <a:ea typeface="Cambria" pitchFamily="34" charset="-122"/>
                <a:cs typeface="Cambria" pitchFamily="34" charset="-120"/>
              </a:rPr>
              <a:t>à partir de signaux EEG</a:t>
            </a:r>
            <a:endParaRPr lang="en-US" sz="3000" dirty="0"/>
          </a:p>
        </p:txBody>
      </p:sp>
      <p:sp>
        <p:nvSpPr>
          <p:cNvPr id="5" name="Description"/>
          <p:cNvSpPr txBox="1"/>
          <p:nvPr/>
        </p:nvSpPr>
        <p:spPr>
          <a:xfrm>
            <a:off x="548640" y="3566160"/>
            <a:ext cx="9601200" cy="457200"/>
          </a:xfrm>
          <a:prstGeom prst="rect">
            <a:avLst/>
          </a:prstGeom>
          <a:noFill/>
          <a:ln/>
        </p:spPr>
        <p:txBody>
          <a:bodyPr wrap="square" lIns="0" tIns="0" rIns="0" bIns="0" rtlCol="0" anchor="ctr"/>
          <a:lstStyle/>
          <a:p>
            <a:pPr indent="0" marL="0">
              <a:buNone/>
            </a:pPr>
            <a:r>
              <a:rPr lang="en-US" sz="1800" dirty="0">
                <a:solidFill>
                  <a:schemeClr val="bg2"/>
                </a:solidFill>
              </a:rPr>
              <a:t>Du signal brut aux intervalles de crise : prétraitement, features, quatre modèles, évaluation honnête</a:t>
            </a:r>
            <a:endParaRPr lang="en-US" sz="1800" dirty="0"/>
          </a:p>
        </p:txBody>
      </p:sp>
      <p:sp>
        <p:nvSpPr>
          <p:cNvPr id="6" name="Pied"/>
          <p:cNvSpPr txBox="1"/>
          <p:nvPr/>
        </p:nvSpPr>
        <p:spPr>
          <a:xfrm>
            <a:off x="548640" y="6263640"/>
            <a:ext cx="7315200" cy="365760"/>
          </a:xfrm>
          <a:prstGeom prst="rect">
            <a:avLst/>
          </a:prstGeom>
          <a:noFill/>
          <a:ln/>
        </p:spPr>
        <p:txBody>
          <a:bodyPr wrap="square" lIns="0" tIns="0" rIns="0" bIns="0" rtlCol="0" anchor="ctr"/>
          <a:lstStyle/>
          <a:p>
            <a:pPr indent="0" marL="0">
              <a:buNone/>
            </a:pPr>
            <a:r>
              <a:rPr lang="en-US" sz="1400" dirty="0">
                <a:solidFill>
                  <a:schemeClr val="bg2"/>
                </a:solidFill>
              </a:rPr>
              <a:t>Projet Data Mining · 3AINFO · Soutenance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Retrouver 82 crises dans 9 heures d'EEG</a:t>
            </a:r>
            <a:endParaRPr lang="en-US" sz="3200" dirty="0"/>
          </a:p>
        </p:txBody>
      </p:sp>
      <p:sp>
        <p:nvSpPr>
          <p:cNvPr id="4" name="Carte enregistrements EEG"/>
          <p:cNvSpPr/>
          <p:nvPr/>
        </p:nvSpPr>
        <p:spPr>
          <a:xfrm>
            <a:off x="548640" y="1554480"/>
            <a:ext cx="2606040" cy="2011680"/>
          </a:xfrm>
          <a:prstGeom prst="roundRect">
            <a:avLst>
              <a:gd name="adj" fmla="val 5455"/>
            </a:avLst>
          </a:prstGeom>
          <a:solidFill>
            <a:schemeClr val="bg2"/>
          </a:solidFill>
          <a:ln w="9525">
            <a:solidFill>
              <a:srgbClr val="D5DEDC"/>
            </a:solidFill>
            <a:prstDash val="solid"/>
          </a:ln>
        </p:spPr>
      </p:sp>
      <p:sp>
        <p:nvSpPr>
          <p:cNvPr id="5" name="Text 2"/>
          <p:cNvSpPr txBox="1"/>
          <p:nvPr/>
        </p:nvSpPr>
        <p:spPr>
          <a:xfrm>
            <a:off x="548640" y="1691640"/>
            <a:ext cx="2606040" cy="109728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22</a:t>
            </a:r>
            <a:endParaRPr lang="en-US" sz="5400" dirty="0"/>
          </a:p>
        </p:txBody>
      </p:sp>
      <p:sp>
        <p:nvSpPr>
          <p:cNvPr id="6" name="Text 3"/>
          <p:cNvSpPr txBox="1"/>
          <p:nvPr/>
        </p:nvSpPr>
        <p:spPr>
          <a:xfrm>
            <a:off x="685800" y="2788920"/>
            <a:ext cx="2331720" cy="640080"/>
          </a:xfrm>
          <a:prstGeom prst="rect">
            <a:avLst/>
          </a:prstGeom>
          <a:noFill/>
          <a:ln/>
        </p:spPr>
        <p:txBody>
          <a:bodyPr wrap="square" lIns="0" tIns="0" rIns="0" bIns="0" rtlCol="0" anchor="t"/>
          <a:lstStyle/>
          <a:p>
            <a:pPr algn="ctr" indent="0" marL="0">
              <a:buNone/>
            </a:pPr>
            <a:r>
              <a:rPr lang="en-US" sz="1600" dirty="0">
                <a:solidFill>
                  <a:schemeClr val="tx1"/>
                </a:solidFill>
              </a:rPr>
              <a:t>enregistrements EEG</a:t>
            </a:r>
            <a:endParaRPr lang="en-US" sz="1600" dirty="0"/>
          </a:p>
        </p:txBody>
      </p:sp>
      <p:sp>
        <p:nvSpPr>
          <p:cNvPr id="7" name="Carte de signal, 256 Hz"/>
          <p:cNvSpPr/>
          <p:nvPr/>
        </p:nvSpPr>
        <p:spPr>
          <a:xfrm>
            <a:off x="3383280" y="1554480"/>
            <a:ext cx="2606040" cy="2011680"/>
          </a:xfrm>
          <a:prstGeom prst="roundRect">
            <a:avLst>
              <a:gd name="adj" fmla="val 5455"/>
            </a:avLst>
          </a:prstGeom>
          <a:solidFill>
            <a:schemeClr val="bg2"/>
          </a:solidFill>
          <a:ln w="9525">
            <a:solidFill>
              <a:srgbClr val="D5DEDC"/>
            </a:solidFill>
            <a:prstDash val="solid"/>
          </a:ln>
        </p:spPr>
      </p:sp>
      <p:sp>
        <p:nvSpPr>
          <p:cNvPr id="8" name="Text 5"/>
          <p:cNvSpPr txBox="1"/>
          <p:nvPr/>
        </p:nvSpPr>
        <p:spPr>
          <a:xfrm>
            <a:off x="3383280" y="1691640"/>
            <a:ext cx="2606040" cy="109728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9,2 h</a:t>
            </a:r>
            <a:endParaRPr lang="en-US" sz="5400" dirty="0"/>
          </a:p>
        </p:txBody>
      </p:sp>
      <p:sp>
        <p:nvSpPr>
          <p:cNvPr id="9" name="Text 6"/>
          <p:cNvSpPr txBox="1"/>
          <p:nvPr/>
        </p:nvSpPr>
        <p:spPr>
          <a:xfrm>
            <a:off x="3520440" y="2788920"/>
            <a:ext cx="2331720" cy="640080"/>
          </a:xfrm>
          <a:prstGeom prst="rect">
            <a:avLst/>
          </a:prstGeom>
          <a:noFill/>
          <a:ln/>
        </p:spPr>
        <p:txBody>
          <a:bodyPr wrap="square" lIns="0" tIns="0" rIns="0" bIns="0" rtlCol="0" anchor="t"/>
          <a:lstStyle/>
          <a:p>
            <a:pPr algn="ctr" indent="0" marL="0">
              <a:buNone/>
            </a:pPr>
            <a:r>
              <a:rPr lang="en-US" sz="1600" dirty="0">
                <a:solidFill>
                  <a:schemeClr val="tx1"/>
                </a:solidFill>
              </a:rPr>
              <a:t>de signal, 256 Hz</a:t>
            </a:r>
            <a:endParaRPr lang="en-US" sz="1600" dirty="0"/>
          </a:p>
        </p:txBody>
      </p:sp>
      <p:sp>
        <p:nvSpPr>
          <p:cNvPr id="10" name="Carte crises annotées"/>
          <p:cNvSpPr/>
          <p:nvPr/>
        </p:nvSpPr>
        <p:spPr>
          <a:xfrm>
            <a:off x="6217920" y="1554480"/>
            <a:ext cx="2606040" cy="2011680"/>
          </a:xfrm>
          <a:prstGeom prst="roundRect">
            <a:avLst>
              <a:gd name="adj" fmla="val 5455"/>
            </a:avLst>
          </a:prstGeom>
          <a:solidFill>
            <a:schemeClr val="bg2"/>
          </a:solidFill>
          <a:ln w="9525">
            <a:solidFill>
              <a:srgbClr val="D5DEDC"/>
            </a:solidFill>
            <a:prstDash val="solid"/>
          </a:ln>
        </p:spPr>
      </p:sp>
      <p:sp>
        <p:nvSpPr>
          <p:cNvPr id="11" name="Text 8"/>
          <p:cNvSpPr txBox="1"/>
          <p:nvPr/>
        </p:nvSpPr>
        <p:spPr>
          <a:xfrm>
            <a:off x="6217920" y="1691640"/>
            <a:ext cx="2606040" cy="1097280"/>
          </a:xfrm>
          <a:prstGeom prst="rect">
            <a:avLst/>
          </a:prstGeom>
          <a:noFill/>
          <a:ln/>
        </p:spPr>
        <p:txBody>
          <a:bodyPr wrap="square" lIns="0" tIns="0" rIns="0" bIns="0" rtlCol="0" anchor="ctr"/>
          <a:lstStyle/>
          <a:p>
            <a:pPr algn="ctr" indent="0" marL="0">
              <a:buNone/>
            </a:pPr>
            <a:r>
              <a:rPr lang="en-US" sz="5400" b="1" dirty="0">
                <a:solidFill>
                  <a:schemeClr val="tx2"/>
                </a:solidFill>
                <a:latin typeface="Cambria" pitchFamily="34" charset="0"/>
                <a:ea typeface="Cambria" pitchFamily="34" charset="-122"/>
                <a:cs typeface="Cambria" pitchFamily="34" charset="-120"/>
              </a:rPr>
              <a:t>82</a:t>
            </a:r>
            <a:endParaRPr lang="en-US" sz="5400" dirty="0"/>
          </a:p>
        </p:txBody>
      </p:sp>
      <p:sp>
        <p:nvSpPr>
          <p:cNvPr id="12" name="Text 9"/>
          <p:cNvSpPr txBox="1"/>
          <p:nvPr/>
        </p:nvSpPr>
        <p:spPr>
          <a:xfrm>
            <a:off x="6355080" y="2788920"/>
            <a:ext cx="2331720" cy="640080"/>
          </a:xfrm>
          <a:prstGeom prst="rect">
            <a:avLst/>
          </a:prstGeom>
          <a:noFill/>
          <a:ln/>
        </p:spPr>
        <p:txBody>
          <a:bodyPr wrap="square" lIns="0" tIns="0" rIns="0" bIns="0" rtlCol="0" anchor="t"/>
          <a:lstStyle/>
          <a:p>
            <a:pPr algn="ctr" indent="0" marL="0">
              <a:buNone/>
            </a:pPr>
            <a:r>
              <a:rPr lang="en-US" sz="1600" dirty="0">
                <a:solidFill>
                  <a:schemeClr val="tx1"/>
                </a:solidFill>
              </a:rPr>
              <a:t>crises annotées</a:t>
            </a:r>
            <a:endParaRPr lang="en-US" sz="1600" dirty="0"/>
          </a:p>
        </p:txBody>
      </p:sp>
      <p:sp>
        <p:nvSpPr>
          <p:cNvPr id="13" name="Carte des fenêtres sont en crise"/>
          <p:cNvSpPr/>
          <p:nvPr/>
        </p:nvSpPr>
        <p:spPr>
          <a:xfrm>
            <a:off x="9052560" y="1554480"/>
            <a:ext cx="2606040" cy="2011680"/>
          </a:xfrm>
          <a:prstGeom prst="roundRect">
            <a:avLst>
              <a:gd name="adj" fmla="val 5455"/>
            </a:avLst>
          </a:prstGeom>
          <a:solidFill>
            <a:schemeClr val="bg2"/>
          </a:solidFill>
          <a:ln w="9525">
            <a:solidFill>
              <a:srgbClr val="D5DEDC"/>
            </a:solidFill>
            <a:prstDash val="solid"/>
          </a:ln>
        </p:spPr>
      </p:sp>
      <p:sp>
        <p:nvSpPr>
          <p:cNvPr id="14" name="Text 11"/>
          <p:cNvSpPr txBox="1"/>
          <p:nvPr/>
        </p:nvSpPr>
        <p:spPr>
          <a:xfrm>
            <a:off x="9052560" y="1691640"/>
            <a:ext cx="2606040" cy="109728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3,5 %</a:t>
            </a:r>
            <a:endParaRPr lang="en-US" sz="5400" dirty="0"/>
          </a:p>
        </p:txBody>
      </p:sp>
      <p:sp>
        <p:nvSpPr>
          <p:cNvPr id="15" name="Text 12"/>
          <p:cNvSpPr txBox="1"/>
          <p:nvPr/>
        </p:nvSpPr>
        <p:spPr>
          <a:xfrm>
            <a:off x="9189720" y="2788920"/>
            <a:ext cx="2331720" cy="640080"/>
          </a:xfrm>
          <a:prstGeom prst="rect">
            <a:avLst/>
          </a:prstGeom>
          <a:noFill/>
          <a:ln/>
        </p:spPr>
        <p:txBody>
          <a:bodyPr wrap="square" lIns="0" tIns="0" rIns="0" bIns="0" rtlCol="0" anchor="t"/>
          <a:lstStyle/>
          <a:p>
            <a:pPr algn="ctr" indent="0" marL="0">
              <a:buNone/>
            </a:pPr>
            <a:r>
              <a:rPr lang="en-US" sz="1600" dirty="0">
                <a:solidFill>
                  <a:schemeClr val="tx1"/>
                </a:solidFill>
              </a:rPr>
              <a:t>des fenêtres sont en crise</a:t>
            </a:r>
            <a:endParaRPr lang="en-US" sz="1600" dirty="0"/>
          </a:p>
        </p:txBody>
      </p:sp>
      <p:sp>
        <p:nvSpPr>
          <p:cNvPr id="16" name="Explication"/>
          <p:cNvSpPr txBox="1"/>
          <p:nvPr/>
        </p:nvSpPr>
        <p:spPr>
          <a:xfrm>
            <a:off x="548640" y="4206240"/>
            <a:ext cx="11064240" cy="1645920"/>
          </a:xfrm>
          <a:prstGeom prst="rect">
            <a:avLst/>
          </a:prstGeom>
          <a:noFill/>
          <a:ln/>
        </p:spPr>
        <p:txBody>
          <a:bodyPr wrap="square" lIns="0" tIns="0" rIns="0" bIns="0" rtlCol="0" anchor="t"/>
          <a:lstStyle/>
          <a:p>
            <a:pPr indent="0" marL="0">
              <a:spcAft>
                <a:spcPts val="1200"/>
              </a:spcAft>
              <a:buNone/>
            </a:pPr>
            <a:r>
              <a:rPr lang="en-US" sz="2200" b="1" dirty="0">
                <a:solidFill>
                  <a:schemeClr val="tx2"/>
                </a:solidFill>
              </a:rPr>
              <a:t>Une absence</a:t>
            </a:r>
            <a:pPr indent="0" marL="0">
              <a:spcAft>
                <a:spcPts val="1200"/>
              </a:spcAft>
              <a:buNone/>
            </a:pPr>
            <a:r>
              <a:rPr lang="en-US" sz="2200" dirty="0">
                <a:solidFill>
                  <a:schemeClr val="tx1"/>
                </a:solidFill>
              </a:rPr>
              <a:t> : brève perte de conscience, signature EEG de pointes-ondes vers 3 Hz.</a:t>
            </a:r>
            <a:endParaRPr lang="en-US" sz="2200" dirty="0"/>
          </a:p>
          <a:p>
            <a:pPr indent="0" marL="0">
              <a:spcAft>
                <a:spcPts val="1200"/>
              </a:spcAft>
              <a:buNone/>
            </a:pPr>
            <a:r>
              <a:rPr lang="en-US" sz="2200" b="1" dirty="0">
                <a:solidFill>
                  <a:schemeClr val="accent2"/>
                </a:solidFill>
              </a:rPr>
              <a:t>Le défi : </a:t>
            </a:r>
            <a:pPr indent="0" marL="0">
              <a:spcAft>
                <a:spcPts val="1200"/>
              </a:spcAft>
              <a:buNone/>
            </a:pPr>
            <a:r>
              <a:rPr lang="en-US" sz="2200" dirty="0">
                <a:solidFill>
                  <a:schemeClr val="tx1"/>
                </a:solidFill>
              </a:rPr>
              <a:t>des crises rares. L'Accuracy est trompeuse, il faut des métriques adaptées au déséquilibre.</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 l'EEG brut aux intervalles de crise</a:t>
            </a:r>
            <a:endParaRPr lang="en-US" sz="3200" dirty="0"/>
          </a:p>
        </p:txBody>
      </p:sp>
      <p:sp>
        <p:nvSpPr>
          <p:cNvPr id="4" name="Pastille 1"/>
          <p:cNvSpPr/>
          <p:nvPr/>
        </p:nvSpPr>
        <p:spPr>
          <a:xfrm>
            <a:off x="1120140" y="1645920"/>
            <a:ext cx="548640" cy="548640"/>
          </a:xfrm>
          <a:prstGeom prst="ellipse">
            <a:avLst/>
          </a:prstGeom>
          <a:solidFill>
            <a:schemeClr val="accent1"/>
          </a:solidFill>
          <a:ln w="12700">
            <a:solidFill>
              <a:schemeClr val="bg1"/>
            </a:solidFill>
            <a:prstDash val="solid"/>
          </a:ln>
        </p:spPr>
      </p:sp>
      <p:sp>
        <p:nvSpPr>
          <p:cNvPr id="5" name="Text 2"/>
          <p:cNvSpPr txBox="1"/>
          <p:nvPr/>
        </p:nvSpPr>
        <p:spPr>
          <a:xfrm>
            <a:off x="112014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54864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Prétraitement</a:t>
            </a:r>
            <a:endParaRPr lang="en-US" sz="1800" dirty="0"/>
          </a:p>
        </p:txBody>
      </p:sp>
      <p:sp>
        <p:nvSpPr>
          <p:cNvPr id="7" name="Text 4"/>
          <p:cNvSpPr txBox="1"/>
          <p:nvPr/>
        </p:nvSpPr>
        <p:spPr>
          <a:xfrm>
            <a:off x="54864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filtre 0,5-40 Hz</a:t>
            </a:r>
            <a:endParaRPr lang="en-US" sz="1400" dirty="0"/>
          </a:p>
          <a:p>
            <a:pPr algn="ctr" indent="0" marL="0">
              <a:buNone/>
            </a:pPr>
            <a:r>
              <a:rPr lang="en-US" sz="1400" dirty="0">
                <a:solidFill>
                  <a:schemeClr val="tx1"/>
                </a:solidFill>
              </a:rPr>
              <a:t>normalisation robuste</a:t>
            </a:r>
            <a:endParaRPr lang="en-US" sz="1400" dirty="0"/>
          </a:p>
        </p:txBody>
      </p:sp>
      <p:sp>
        <p:nvSpPr>
          <p:cNvPr id="8" name="Flèche 1"/>
          <p:cNvSpPr/>
          <p:nvPr/>
        </p:nvSpPr>
        <p:spPr>
          <a:xfrm>
            <a:off x="2258568" y="1810512"/>
            <a:ext cx="146304" cy="219456"/>
          </a:xfrm>
          <a:prstGeom prst="rightArrow">
            <a:avLst/>
          </a:prstGeom>
          <a:solidFill>
            <a:schemeClr val="accent5"/>
          </a:solidFill>
          <a:ln w="12700">
            <a:solidFill>
              <a:schemeClr val="bg1"/>
            </a:solidFill>
            <a:prstDash val="solid"/>
          </a:ln>
        </p:spPr>
      </p:sp>
      <p:sp>
        <p:nvSpPr>
          <p:cNvPr id="9" name="Pastille 2"/>
          <p:cNvSpPr/>
          <p:nvPr/>
        </p:nvSpPr>
        <p:spPr>
          <a:xfrm>
            <a:off x="2994660" y="1645920"/>
            <a:ext cx="548640" cy="548640"/>
          </a:xfrm>
          <a:prstGeom prst="ellipse">
            <a:avLst/>
          </a:prstGeom>
          <a:solidFill>
            <a:schemeClr val="accent1"/>
          </a:solidFill>
          <a:ln w="12700">
            <a:solidFill>
              <a:schemeClr val="bg1"/>
            </a:solidFill>
            <a:prstDash val="solid"/>
          </a:ln>
        </p:spPr>
      </p:sp>
      <p:sp>
        <p:nvSpPr>
          <p:cNvPr id="10" name="Text 7"/>
          <p:cNvSpPr txBox="1"/>
          <p:nvPr/>
        </p:nvSpPr>
        <p:spPr>
          <a:xfrm>
            <a:off x="299466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242316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Fenêtres</a:t>
            </a:r>
            <a:endParaRPr lang="en-US" sz="1800" dirty="0"/>
          </a:p>
        </p:txBody>
      </p:sp>
      <p:sp>
        <p:nvSpPr>
          <p:cNvPr id="12" name="Text 9"/>
          <p:cNvSpPr txBox="1"/>
          <p:nvPr/>
        </p:nvSpPr>
        <p:spPr>
          <a:xfrm>
            <a:off x="242316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2 s, 50 %</a:t>
            </a:r>
            <a:endParaRPr lang="en-US" sz="1400" dirty="0"/>
          </a:p>
          <a:p>
            <a:pPr algn="ctr" indent="0" marL="0">
              <a:buNone/>
            </a:pPr>
            <a:r>
              <a:rPr lang="en-US" sz="1400" dirty="0">
                <a:solidFill>
                  <a:schemeClr val="tx1"/>
                </a:solidFill>
              </a:rPr>
              <a:t>de recouvrement</a:t>
            </a:r>
            <a:endParaRPr lang="en-US" sz="1400" dirty="0"/>
          </a:p>
        </p:txBody>
      </p:sp>
      <p:sp>
        <p:nvSpPr>
          <p:cNvPr id="13" name="Flèche 2"/>
          <p:cNvSpPr/>
          <p:nvPr/>
        </p:nvSpPr>
        <p:spPr>
          <a:xfrm>
            <a:off x="4133088" y="1810512"/>
            <a:ext cx="146304" cy="219456"/>
          </a:xfrm>
          <a:prstGeom prst="rightArrow">
            <a:avLst/>
          </a:prstGeom>
          <a:solidFill>
            <a:schemeClr val="accent5"/>
          </a:solidFill>
          <a:ln w="12700">
            <a:solidFill>
              <a:schemeClr val="bg1"/>
            </a:solidFill>
            <a:prstDash val="solid"/>
          </a:ln>
        </p:spPr>
      </p:sp>
      <p:sp>
        <p:nvSpPr>
          <p:cNvPr id="14" name="Pastille 3"/>
          <p:cNvSpPr/>
          <p:nvPr/>
        </p:nvSpPr>
        <p:spPr>
          <a:xfrm>
            <a:off x="4869180" y="1645920"/>
            <a:ext cx="548640" cy="548640"/>
          </a:xfrm>
          <a:prstGeom prst="ellipse">
            <a:avLst/>
          </a:prstGeom>
          <a:solidFill>
            <a:schemeClr val="accent1"/>
          </a:solidFill>
          <a:ln w="12700">
            <a:solidFill>
              <a:schemeClr val="bg1"/>
            </a:solidFill>
            <a:prstDash val="solid"/>
          </a:ln>
        </p:spPr>
      </p:sp>
      <p:sp>
        <p:nvSpPr>
          <p:cNvPr id="15" name="Text 12"/>
          <p:cNvSpPr txBox="1"/>
          <p:nvPr/>
        </p:nvSpPr>
        <p:spPr>
          <a:xfrm>
            <a:off x="486918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3"/>
          <p:cNvSpPr txBox="1"/>
          <p:nvPr/>
        </p:nvSpPr>
        <p:spPr>
          <a:xfrm>
            <a:off x="429768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Features</a:t>
            </a:r>
            <a:endParaRPr lang="en-US" sz="1800" dirty="0"/>
          </a:p>
        </p:txBody>
      </p:sp>
      <p:sp>
        <p:nvSpPr>
          <p:cNvPr id="17" name="Text 14"/>
          <p:cNvSpPr txBox="1"/>
          <p:nvPr/>
        </p:nvSpPr>
        <p:spPr>
          <a:xfrm>
            <a:off x="429768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56 caractéristiques</a:t>
            </a:r>
            <a:endParaRPr lang="en-US" sz="1400" dirty="0"/>
          </a:p>
          <a:p>
            <a:pPr algn="ctr" indent="0" marL="0">
              <a:buNone/>
            </a:pPr>
            <a:r>
              <a:rPr lang="en-US" sz="1400" dirty="0">
                <a:solidFill>
                  <a:schemeClr val="tx1"/>
                </a:solidFill>
              </a:rPr>
              <a:t>par fenêtre</a:t>
            </a:r>
            <a:endParaRPr lang="en-US" sz="1400" dirty="0"/>
          </a:p>
        </p:txBody>
      </p:sp>
      <p:sp>
        <p:nvSpPr>
          <p:cNvPr id="18" name="Flèche 3"/>
          <p:cNvSpPr/>
          <p:nvPr/>
        </p:nvSpPr>
        <p:spPr>
          <a:xfrm>
            <a:off x="6007608" y="1810512"/>
            <a:ext cx="146304" cy="219456"/>
          </a:xfrm>
          <a:prstGeom prst="rightArrow">
            <a:avLst/>
          </a:prstGeom>
          <a:solidFill>
            <a:schemeClr val="accent5"/>
          </a:solidFill>
          <a:ln w="12700">
            <a:solidFill>
              <a:schemeClr val="bg1"/>
            </a:solidFill>
            <a:prstDash val="solid"/>
          </a:ln>
        </p:spPr>
      </p:sp>
      <p:sp>
        <p:nvSpPr>
          <p:cNvPr id="19" name="Pastille 4"/>
          <p:cNvSpPr/>
          <p:nvPr/>
        </p:nvSpPr>
        <p:spPr>
          <a:xfrm>
            <a:off x="6743700" y="1645920"/>
            <a:ext cx="548640" cy="548640"/>
          </a:xfrm>
          <a:prstGeom prst="ellipse">
            <a:avLst/>
          </a:prstGeom>
          <a:solidFill>
            <a:schemeClr val="accent1"/>
          </a:solidFill>
          <a:ln w="12700">
            <a:solidFill>
              <a:schemeClr val="bg1"/>
            </a:solidFill>
            <a:prstDash val="solid"/>
          </a:ln>
        </p:spPr>
      </p:sp>
      <p:sp>
        <p:nvSpPr>
          <p:cNvPr id="20" name="Text 17"/>
          <p:cNvSpPr txBox="1"/>
          <p:nvPr/>
        </p:nvSpPr>
        <p:spPr>
          <a:xfrm>
            <a:off x="674370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8"/>
          <p:cNvSpPr txBox="1"/>
          <p:nvPr/>
        </p:nvSpPr>
        <p:spPr>
          <a:xfrm>
            <a:off x="617220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Sélection</a:t>
            </a:r>
            <a:endParaRPr lang="en-US" sz="1800" dirty="0"/>
          </a:p>
        </p:txBody>
      </p:sp>
      <p:sp>
        <p:nvSpPr>
          <p:cNvPr id="22" name="Text 19"/>
          <p:cNvSpPr txBox="1"/>
          <p:nvPr/>
        </p:nvSpPr>
        <p:spPr>
          <a:xfrm>
            <a:off x="617220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15 meilleures,</a:t>
            </a:r>
            <a:endParaRPr lang="en-US" sz="1400" dirty="0"/>
          </a:p>
          <a:p>
            <a:pPr algn="ctr" indent="0" marL="0">
              <a:buNone/>
            </a:pPr>
            <a:r>
              <a:rPr lang="en-US" sz="1400" dirty="0">
                <a:solidFill>
                  <a:schemeClr val="tx1"/>
                </a:solidFill>
              </a:rPr>
              <a:t>non redondantes</a:t>
            </a:r>
            <a:endParaRPr lang="en-US" sz="1400" dirty="0"/>
          </a:p>
        </p:txBody>
      </p:sp>
      <p:sp>
        <p:nvSpPr>
          <p:cNvPr id="23" name="Flèche 4"/>
          <p:cNvSpPr/>
          <p:nvPr/>
        </p:nvSpPr>
        <p:spPr>
          <a:xfrm>
            <a:off x="7882128" y="1810512"/>
            <a:ext cx="146304" cy="219456"/>
          </a:xfrm>
          <a:prstGeom prst="rightArrow">
            <a:avLst/>
          </a:prstGeom>
          <a:solidFill>
            <a:schemeClr val="accent5"/>
          </a:solidFill>
          <a:ln w="12700">
            <a:solidFill>
              <a:schemeClr val="bg1"/>
            </a:solidFill>
            <a:prstDash val="solid"/>
          </a:ln>
        </p:spPr>
      </p:sp>
      <p:sp>
        <p:nvSpPr>
          <p:cNvPr id="24" name="Pastille 5"/>
          <p:cNvSpPr/>
          <p:nvPr/>
        </p:nvSpPr>
        <p:spPr>
          <a:xfrm>
            <a:off x="8618220" y="1645920"/>
            <a:ext cx="548640" cy="548640"/>
          </a:xfrm>
          <a:prstGeom prst="ellipse">
            <a:avLst/>
          </a:prstGeom>
          <a:solidFill>
            <a:schemeClr val="accent2"/>
          </a:solidFill>
          <a:ln w="12700">
            <a:solidFill>
              <a:schemeClr val="bg1"/>
            </a:solidFill>
            <a:prstDash val="solid"/>
          </a:ln>
        </p:spPr>
      </p:sp>
      <p:sp>
        <p:nvSpPr>
          <p:cNvPr id="25" name="Text 22"/>
          <p:cNvSpPr txBox="1"/>
          <p:nvPr/>
        </p:nvSpPr>
        <p:spPr>
          <a:xfrm>
            <a:off x="861822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3"/>
          <p:cNvSpPr txBox="1"/>
          <p:nvPr/>
        </p:nvSpPr>
        <p:spPr>
          <a:xfrm>
            <a:off x="804672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Classification</a:t>
            </a:r>
            <a:endParaRPr lang="en-US" sz="1800" dirty="0"/>
          </a:p>
        </p:txBody>
      </p:sp>
      <p:sp>
        <p:nvSpPr>
          <p:cNvPr id="27" name="Text 24"/>
          <p:cNvSpPr txBox="1"/>
          <p:nvPr/>
        </p:nvSpPr>
        <p:spPr>
          <a:xfrm>
            <a:off x="804672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DT · RF · KNN · SVM</a:t>
            </a:r>
            <a:endParaRPr lang="en-US" sz="1400" dirty="0"/>
          </a:p>
        </p:txBody>
      </p:sp>
      <p:sp>
        <p:nvSpPr>
          <p:cNvPr id="28" name="Flèche 5"/>
          <p:cNvSpPr/>
          <p:nvPr/>
        </p:nvSpPr>
        <p:spPr>
          <a:xfrm>
            <a:off x="9756648" y="1810512"/>
            <a:ext cx="146304" cy="219456"/>
          </a:xfrm>
          <a:prstGeom prst="rightArrow">
            <a:avLst/>
          </a:prstGeom>
          <a:solidFill>
            <a:schemeClr val="accent5"/>
          </a:solidFill>
          <a:ln w="12700">
            <a:solidFill>
              <a:schemeClr val="bg1"/>
            </a:solidFill>
            <a:prstDash val="solid"/>
          </a:ln>
        </p:spPr>
      </p:sp>
      <p:sp>
        <p:nvSpPr>
          <p:cNvPr id="29" name="Pastille 6"/>
          <p:cNvSpPr/>
          <p:nvPr/>
        </p:nvSpPr>
        <p:spPr>
          <a:xfrm>
            <a:off x="10492740" y="1645920"/>
            <a:ext cx="548640" cy="548640"/>
          </a:xfrm>
          <a:prstGeom prst="ellipse">
            <a:avLst/>
          </a:prstGeom>
          <a:solidFill>
            <a:schemeClr val="accent1"/>
          </a:solidFill>
          <a:ln w="12700">
            <a:solidFill>
              <a:schemeClr val="bg1"/>
            </a:solidFill>
            <a:prstDash val="solid"/>
          </a:ln>
        </p:spPr>
      </p:sp>
      <p:sp>
        <p:nvSpPr>
          <p:cNvPr id="30" name="Text 27"/>
          <p:cNvSpPr txBox="1"/>
          <p:nvPr/>
        </p:nvSpPr>
        <p:spPr>
          <a:xfrm>
            <a:off x="1049274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Text 28"/>
          <p:cNvSpPr txBox="1"/>
          <p:nvPr/>
        </p:nvSpPr>
        <p:spPr>
          <a:xfrm>
            <a:off x="9921240" y="2377440"/>
            <a:ext cx="169164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Détection</a:t>
            </a:r>
            <a:endParaRPr lang="en-US" sz="1800" dirty="0"/>
          </a:p>
        </p:txBody>
      </p:sp>
      <p:sp>
        <p:nvSpPr>
          <p:cNvPr id="32" name="Text 29"/>
          <p:cNvSpPr txBox="1"/>
          <p:nvPr/>
        </p:nvSpPr>
        <p:spPr>
          <a:xfrm>
            <a:off x="9921240" y="2880360"/>
            <a:ext cx="1691640" cy="914400"/>
          </a:xfrm>
          <a:prstGeom prst="rect">
            <a:avLst/>
          </a:prstGeom>
          <a:noFill/>
          <a:ln/>
        </p:spPr>
        <p:txBody>
          <a:bodyPr wrap="square" lIns="0" tIns="0" rIns="0" bIns="0" rtlCol="0" anchor="t"/>
          <a:lstStyle/>
          <a:p>
            <a:pPr algn="ctr" indent="0" marL="0">
              <a:buNone/>
            </a:pPr>
            <a:r>
              <a:rPr lang="en-US" sz="1400" dirty="0">
                <a:solidFill>
                  <a:schemeClr val="tx1"/>
                </a:solidFill>
              </a:rPr>
              <a:t>intervalles de crise</a:t>
            </a:r>
            <a:endParaRPr lang="en-US" sz="1400" dirty="0"/>
          </a:p>
          <a:p>
            <a:pPr algn="ctr" indent="0" marL="0">
              <a:buNone/>
            </a:pPr>
            <a:r>
              <a:rPr lang="en-US" sz="1400" dirty="0">
                <a:solidFill>
                  <a:schemeClr val="tx1"/>
                </a:solidFill>
              </a:rPr>
              <a:t>(lissage, durée min.)</a:t>
            </a:r>
            <a:endParaRPr lang="en-US" sz="1400" dirty="0"/>
          </a:p>
        </p:txBody>
      </p:sp>
      <p:sp>
        <p:nvSpPr>
          <p:cNvPr id="33" name="Encadré"/>
          <p:cNvSpPr/>
          <p:nvPr/>
        </p:nvSpPr>
        <p:spPr>
          <a:xfrm>
            <a:off x="548640" y="4297680"/>
            <a:ext cx="11064240" cy="1554480"/>
          </a:xfrm>
          <a:prstGeom prst="roundRect">
            <a:avLst>
              <a:gd name="adj" fmla="val 5882"/>
            </a:avLst>
          </a:prstGeom>
          <a:solidFill>
            <a:schemeClr val="bg2"/>
          </a:solidFill>
          <a:ln w="9525">
            <a:solidFill>
              <a:srgbClr val="D5DEDC"/>
            </a:solidFill>
            <a:prstDash val="solid"/>
          </a:ln>
        </p:spPr>
      </p:sp>
      <p:sp>
        <p:nvSpPr>
          <p:cNvPr id="34" name="Texte encadré"/>
          <p:cNvSpPr txBox="1"/>
          <p:nvPr/>
        </p:nvSpPr>
        <p:spPr>
          <a:xfrm>
            <a:off x="822960" y="4434840"/>
            <a:ext cx="10515600" cy="1280160"/>
          </a:xfrm>
          <a:prstGeom prst="rect">
            <a:avLst/>
          </a:prstGeom>
          <a:noFill/>
          <a:ln/>
        </p:spPr>
        <p:txBody>
          <a:bodyPr wrap="square" lIns="0" tIns="0" rIns="0" bIns="0" rtlCol="0" anchor="ctr"/>
          <a:lstStyle/>
          <a:p>
            <a:pPr indent="0" marL="0">
              <a:buNone/>
            </a:pPr>
            <a:r>
              <a:rPr lang="en-US" sz="1800" b="1" dirty="0">
                <a:solidFill>
                  <a:schemeClr val="tx2"/>
                </a:solidFill>
              </a:rPr>
              <a:t>Tout est reproductible : </a:t>
            </a:r>
            <a:pPr indent="0" marL="0">
              <a:buNone/>
            </a:pPr>
            <a:r>
              <a:rPr lang="en-US" sz="1800" dirty="0">
                <a:solidFill>
                  <a:schemeClr val="tx1"/>
                </a:solidFill>
              </a:rPr>
              <a:t>un seul fichier de modèles pour l'application et pour l'évaluation, résultats de référence écrits dans results/, interface Streamlit patient par patient.</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Les features à 3 Hz ressortent en tête</a:t>
            </a:r>
            <a:endParaRPr lang="en-US" sz="3200" dirty="0"/>
          </a:p>
        </p:txBody>
      </p:sp>
      <p:sp>
        <p:nvSpPr>
          <p:cNvPr id="4" name="Carte Puissance à 3 Hz"/>
          <p:cNvSpPr/>
          <p:nvPr/>
        </p:nvSpPr>
        <p:spPr>
          <a:xfrm>
            <a:off x="548640" y="1554480"/>
            <a:ext cx="3566160" cy="3108960"/>
          </a:xfrm>
          <a:prstGeom prst="roundRect">
            <a:avLst>
              <a:gd name="adj" fmla="val 3529"/>
            </a:avLst>
          </a:prstGeom>
          <a:solidFill>
            <a:schemeClr val="bg2"/>
          </a:solidFill>
          <a:ln w="9525">
            <a:solidFill>
              <a:srgbClr val="D5DEDC"/>
            </a:solidFill>
            <a:prstDash val="solid"/>
          </a:ln>
        </p:spPr>
      </p:sp>
      <p:sp>
        <p:nvSpPr>
          <p:cNvPr id="5" name="Pastille Puissance à 3 Hz"/>
          <p:cNvSpPr/>
          <p:nvPr/>
        </p:nvSpPr>
        <p:spPr>
          <a:xfrm>
            <a:off x="822960" y="1828800"/>
            <a:ext cx="731520" cy="731520"/>
          </a:xfrm>
          <a:prstGeom prst="ellipse">
            <a:avLst/>
          </a:prstGeom>
          <a:solidFill>
            <a:schemeClr val="accent1"/>
          </a:solidFill>
          <a:ln w="12700">
            <a:solidFill>
              <a:schemeClr val="bg2"/>
            </a:solidFill>
            <a:prstDash val="solid"/>
          </a:ln>
        </p:spPr>
      </p:sp>
      <p:sp>
        <p:nvSpPr>
          <p:cNvPr id="6" name="Text 3"/>
          <p:cNvSpPr txBox="1"/>
          <p:nvPr/>
        </p:nvSpPr>
        <p:spPr>
          <a:xfrm>
            <a:off x="822960" y="18288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4"/>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Puissance à 3 Hz</a:t>
            </a:r>
            <a:endParaRPr lang="en-US" sz="2200" dirty="0"/>
          </a:p>
        </p:txBody>
      </p:sp>
      <p:sp>
        <p:nvSpPr>
          <p:cNvPr id="8" name="Text 5"/>
          <p:cNvSpPr txBox="1"/>
          <p:nvPr/>
        </p:nvSpPr>
        <p:spPr>
          <a:xfrm>
            <a:off x="822960" y="3246120"/>
            <a:ext cx="3017520" cy="1280160"/>
          </a:xfrm>
          <a:prstGeom prst="rect">
            <a:avLst/>
          </a:prstGeom>
          <a:noFill/>
          <a:ln/>
        </p:spPr>
        <p:txBody>
          <a:bodyPr wrap="square" lIns="0" tIns="0" rIns="0" bIns="0" rtlCol="0" anchor="t"/>
          <a:lstStyle/>
          <a:p>
            <a:pPr indent="0" marL="0">
              <a:buNone/>
            </a:pPr>
            <a:r>
              <a:rPr lang="en-US" sz="1600" dirty="0">
                <a:solidFill>
                  <a:schemeClr val="tx1"/>
                </a:solidFill>
              </a:rPr>
              <a:t>La signature des pointes-ondes : Rel_Hz3 et Power_Hz3, en moyenne et en maximum sur les canaux.</a:t>
            </a:r>
            <a:endParaRPr lang="en-US" sz="1600" dirty="0"/>
          </a:p>
        </p:txBody>
      </p:sp>
      <p:sp>
        <p:nvSpPr>
          <p:cNvPr id="9" name="Carte Amplitude"/>
          <p:cNvSpPr/>
          <p:nvPr/>
        </p:nvSpPr>
        <p:spPr>
          <a:xfrm>
            <a:off x="4297680" y="1554480"/>
            <a:ext cx="3566160" cy="3108960"/>
          </a:xfrm>
          <a:prstGeom prst="roundRect">
            <a:avLst>
              <a:gd name="adj" fmla="val 3529"/>
            </a:avLst>
          </a:prstGeom>
          <a:solidFill>
            <a:schemeClr val="bg2"/>
          </a:solidFill>
          <a:ln w="9525">
            <a:solidFill>
              <a:srgbClr val="D5DEDC"/>
            </a:solidFill>
            <a:prstDash val="solid"/>
          </a:ln>
        </p:spPr>
      </p:sp>
      <p:sp>
        <p:nvSpPr>
          <p:cNvPr id="10" name="Pastille Amplitude"/>
          <p:cNvSpPr/>
          <p:nvPr/>
        </p:nvSpPr>
        <p:spPr>
          <a:xfrm>
            <a:off x="4572000" y="1828800"/>
            <a:ext cx="731520" cy="731520"/>
          </a:xfrm>
          <a:prstGeom prst="ellipse">
            <a:avLst/>
          </a:prstGeom>
          <a:solidFill>
            <a:schemeClr val="accent2"/>
          </a:solidFill>
          <a:ln w="12700">
            <a:solidFill>
              <a:schemeClr val="bg2"/>
            </a:solidFill>
            <a:prstDash val="solid"/>
          </a:ln>
        </p:spPr>
      </p:sp>
      <p:sp>
        <p:nvSpPr>
          <p:cNvPr id="11" name="Text 8"/>
          <p:cNvSpPr txBox="1"/>
          <p:nvPr/>
        </p:nvSpPr>
        <p:spPr>
          <a:xfrm>
            <a:off x="4572000" y="18288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9"/>
          <p:cNvSpPr txBox="1"/>
          <p:nvPr/>
        </p:nvSpPr>
        <p:spPr>
          <a:xfrm>
            <a:off x="4572000" y="2743200"/>
            <a:ext cx="30175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Amplitude</a:t>
            </a:r>
            <a:endParaRPr lang="en-US" sz="2200" dirty="0"/>
          </a:p>
        </p:txBody>
      </p:sp>
      <p:sp>
        <p:nvSpPr>
          <p:cNvPr id="13" name="Text 10"/>
          <p:cNvSpPr txBox="1"/>
          <p:nvPr/>
        </p:nvSpPr>
        <p:spPr>
          <a:xfrm>
            <a:off x="4572000" y="3246120"/>
            <a:ext cx="3017520" cy="1280160"/>
          </a:xfrm>
          <a:prstGeom prst="rect">
            <a:avLst/>
          </a:prstGeom>
          <a:noFill/>
          <a:ln/>
        </p:spPr>
        <p:txBody>
          <a:bodyPr wrap="square" lIns="0" tIns="0" rIns="0" bIns="0" rtlCol="0" anchor="t"/>
          <a:lstStyle/>
          <a:p>
            <a:pPr indent="0" marL="0">
              <a:buNone/>
            </a:pPr>
            <a:r>
              <a:rPr lang="en-US" sz="1600" dirty="0">
                <a:solidFill>
                  <a:schemeClr val="tx1"/>
                </a:solidFill>
              </a:rPr>
              <a:t>Écart-type, minimum et maximum : une crise fait monter l'amplitude du signal.</a:t>
            </a:r>
            <a:endParaRPr lang="en-US" sz="1600" dirty="0"/>
          </a:p>
        </p:txBody>
      </p:sp>
      <p:sp>
        <p:nvSpPr>
          <p:cNvPr id="14" name="Carte Complexité du signal"/>
          <p:cNvSpPr/>
          <p:nvPr/>
        </p:nvSpPr>
        <p:spPr>
          <a:xfrm>
            <a:off x="8046720" y="1554480"/>
            <a:ext cx="3566160" cy="3108960"/>
          </a:xfrm>
          <a:prstGeom prst="roundRect">
            <a:avLst>
              <a:gd name="adj" fmla="val 3529"/>
            </a:avLst>
          </a:prstGeom>
          <a:solidFill>
            <a:schemeClr val="bg2"/>
          </a:solidFill>
          <a:ln w="9525">
            <a:solidFill>
              <a:srgbClr val="D5DEDC"/>
            </a:solidFill>
            <a:prstDash val="solid"/>
          </a:ln>
        </p:spPr>
      </p:sp>
      <p:sp>
        <p:nvSpPr>
          <p:cNvPr id="15" name="Pastille Complexité du signal"/>
          <p:cNvSpPr/>
          <p:nvPr/>
        </p:nvSpPr>
        <p:spPr>
          <a:xfrm>
            <a:off x="8321040" y="1828800"/>
            <a:ext cx="731520" cy="731520"/>
          </a:xfrm>
          <a:prstGeom prst="ellipse">
            <a:avLst/>
          </a:prstGeom>
          <a:solidFill>
            <a:schemeClr val="accent3"/>
          </a:solidFill>
          <a:ln w="12700">
            <a:solidFill>
              <a:schemeClr val="bg2"/>
            </a:solidFill>
            <a:prstDash val="solid"/>
          </a:ln>
        </p:spPr>
      </p:sp>
      <p:sp>
        <p:nvSpPr>
          <p:cNvPr id="16" name="Text 13"/>
          <p:cNvSpPr txBox="1"/>
          <p:nvPr/>
        </p:nvSpPr>
        <p:spPr>
          <a:xfrm>
            <a:off x="8321040" y="18288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4"/>
          <p:cNvSpPr txBox="1"/>
          <p:nvPr/>
        </p:nvSpPr>
        <p:spPr>
          <a:xfrm>
            <a:off x="8321040" y="2743200"/>
            <a:ext cx="30175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Complexité du signal</a:t>
            </a:r>
            <a:endParaRPr lang="en-US" sz="2200" dirty="0"/>
          </a:p>
        </p:txBody>
      </p:sp>
      <p:sp>
        <p:nvSpPr>
          <p:cNvPr id="18" name="Text 15"/>
          <p:cNvSpPr txBox="1"/>
          <p:nvPr/>
        </p:nvSpPr>
        <p:spPr>
          <a:xfrm>
            <a:off x="8321040" y="3246120"/>
            <a:ext cx="3017520" cy="1280160"/>
          </a:xfrm>
          <a:prstGeom prst="rect">
            <a:avLst/>
          </a:prstGeom>
          <a:noFill/>
          <a:ln/>
        </p:spPr>
        <p:txBody>
          <a:bodyPr wrap="square" lIns="0" tIns="0" rIns="0" bIns="0" rtlCol="0" anchor="t"/>
          <a:lstStyle/>
          <a:p>
            <a:pPr indent="0" marL="0">
              <a:buNone/>
            </a:pPr>
            <a:r>
              <a:rPr lang="en-US" sz="1600" dirty="0">
                <a:solidFill>
                  <a:schemeClr val="tx1"/>
                </a:solidFill>
              </a:rPr>
              <a:t>Longueur de courbe, passages par zéro, fréquence dominante, paramètres de Hjorth.</a:t>
            </a:r>
            <a:endParaRPr lang="en-US" sz="1600" dirty="0"/>
          </a:p>
        </p:txBody>
      </p:sp>
      <p:sp>
        <p:nvSpPr>
          <p:cNvPr id="19" name="Résumé sélection"/>
          <p:cNvSpPr txBox="1"/>
          <p:nvPr/>
        </p:nvSpPr>
        <p:spPr>
          <a:xfrm>
            <a:off x="548640" y="5029200"/>
            <a:ext cx="11064240" cy="548640"/>
          </a:xfrm>
          <a:prstGeom prst="rect">
            <a:avLst/>
          </a:prstGeom>
          <a:noFill/>
          <a:ln/>
        </p:spPr>
        <p:txBody>
          <a:bodyPr wrap="square" lIns="0" tIns="0" rIns="0" bIns="0" rtlCol="0" anchor="ctr"/>
          <a:lstStyle/>
          <a:p>
            <a:pPr indent="0" marL="0">
              <a:buNone/>
            </a:pPr>
            <a:r>
              <a:rPr lang="en-US" sz="2000" b="1" dirty="0">
                <a:solidFill>
                  <a:schemeClr val="tx2"/>
                </a:solidFill>
              </a:rPr>
              <a:t>56 features par fenêtre → classement sur 4 critères → 15 retenues (corrélation &lt; 0,9)</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Quatre modèles et un déséquilibre à corriger</a:t>
            </a:r>
            <a:endParaRPr lang="en-US" sz="3200" dirty="0"/>
          </a:p>
        </p:txBody>
      </p:sp>
      <p:sp>
        <p:nvSpPr>
          <p:cNvPr id="4" name="Carte Decision Tree"/>
          <p:cNvSpPr/>
          <p:nvPr/>
        </p:nvSpPr>
        <p:spPr>
          <a:xfrm>
            <a:off x="548640" y="1463040"/>
            <a:ext cx="2606040" cy="2194560"/>
          </a:xfrm>
          <a:prstGeom prst="roundRect">
            <a:avLst>
              <a:gd name="adj" fmla="val 5000"/>
            </a:avLst>
          </a:prstGeom>
          <a:solidFill>
            <a:schemeClr val="bg2"/>
          </a:solidFill>
          <a:ln w="9525">
            <a:solidFill>
              <a:srgbClr val="D5DEDC"/>
            </a:solidFill>
            <a:prstDash val="solid"/>
          </a:ln>
        </p:spPr>
      </p:sp>
      <p:sp>
        <p:nvSpPr>
          <p:cNvPr id="5" name="Text 2"/>
          <p:cNvSpPr txBox="1"/>
          <p:nvPr/>
        </p:nvSpPr>
        <p:spPr>
          <a:xfrm>
            <a:off x="731520" y="1600200"/>
            <a:ext cx="224028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Decision Tree</a:t>
            </a:r>
            <a:endParaRPr lang="en-US" sz="2200" dirty="0"/>
          </a:p>
        </p:txBody>
      </p:sp>
      <p:sp>
        <p:nvSpPr>
          <p:cNvPr id="6" name="Text 3"/>
          <p:cNvSpPr txBox="1"/>
          <p:nvPr/>
        </p:nvSpPr>
        <p:spPr>
          <a:xfrm>
            <a:off x="731520" y="2194560"/>
            <a:ext cx="2240280" cy="1325880"/>
          </a:xfrm>
          <a:prstGeom prst="rect">
            <a:avLst/>
          </a:prstGeom>
          <a:noFill/>
          <a:ln/>
        </p:spPr>
        <p:txBody>
          <a:bodyPr wrap="square" lIns="0" tIns="0" rIns="0" bIns="0" rtlCol="0" anchor="t"/>
          <a:lstStyle/>
          <a:p>
            <a:pPr indent="0" marL="0">
              <a:buNone/>
            </a:pPr>
            <a:r>
              <a:rPr lang="en-US" sz="1600" dirty="0">
                <a:solidFill>
                  <a:schemeClr val="tx1"/>
                </a:solidFill>
              </a:rPr>
              <a:t>Suite de règles « feature &gt; seuil ». Lisible, mais instable.</a:t>
            </a:r>
            <a:endParaRPr lang="en-US" sz="1600" dirty="0"/>
          </a:p>
        </p:txBody>
      </p:sp>
      <p:sp>
        <p:nvSpPr>
          <p:cNvPr id="7" name="Carte Random Forest"/>
          <p:cNvSpPr/>
          <p:nvPr/>
        </p:nvSpPr>
        <p:spPr>
          <a:xfrm>
            <a:off x="3383280" y="1463040"/>
            <a:ext cx="2606040" cy="2194560"/>
          </a:xfrm>
          <a:prstGeom prst="roundRect">
            <a:avLst>
              <a:gd name="adj" fmla="val 5000"/>
            </a:avLst>
          </a:prstGeom>
          <a:solidFill>
            <a:schemeClr val="bg2"/>
          </a:solidFill>
          <a:ln w="9525">
            <a:solidFill>
              <a:srgbClr val="D5DEDC"/>
            </a:solidFill>
            <a:prstDash val="solid"/>
          </a:ln>
        </p:spPr>
      </p:sp>
      <p:sp>
        <p:nvSpPr>
          <p:cNvPr id="8" name="Text 5"/>
          <p:cNvSpPr txBox="1"/>
          <p:nvPr/>
        </p:nvSpPr>
        <p:spPr>
          <a:xfrm>
            <a:off x="3566160" y="1600200"/>
            <a:ext cx="224028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Random Forest</a:t>
            </a:r>
            <a:endParaRPr lang="en-US" sz="2200" dirty="0"/>
          </a:p>
        </p:txBody>
      </p:sp>
      <p:sp>
        <p:nvSpPr>
          <p:cNvPr id="9" name="Text 6"/>
          <p:cNvSpPr txBox="1"/>
          <p:nvPr/>
        </p:nvSpPr>
        <p:spPr>
          <a:xfrm>
            <a:off x="3566160" y="2194560"/>
            <a:ext cx="2240280" cy="1325880"/>
          </a:xfrm>
          <a:prstGeom prst="rect">
            <a:avLst/>
          </a:prstGeom>
          <a:noFill/>
          <a:ln/>
        </p:spPr>
        <p:txBody>
          <a:bodyPr wrap="square" lIns="0" tIns="0" rIns="0" bIns="0" rtlCol="0" anchor="t"/>
          <a:lstStyle/>
          <a:p>
            <a:pPr indent="0" marL="0">
              <a:buNone/>
            </a:pPr>
            <a:r>
              <a:rPr lang="en-US" sz="1600" dirty="0">
                <a:solidFill>
                  <a:schemeClr val="tx1"/>
                </a:solidFill>
              </a:rPr>
              <a:t>200 arbres qui votent. Sélectif : peu de fausses alarmes.</a:t>
            </a:r>
            <a:endParaRPr lang="en-US" sz="1600" dirty="0"/>
          </a:p>
        </p:txBody>
      </p:sp>
      <p:sp>
        <p:nvSpPr>
          <p:cNvPr id="10" name="Carte KNN"/>
          <p:cNvSpPr/>
          <p:nvPr/>
        </p:nvSpPr>
        <p:spPr>
          <a:xfrm>
            <a:off x="6217920" y="1463040"/>
            <a:ext cx="2606040" cy="2194560"/>
          </a:xfrm>
          <a:prstGeom prst="roundRect">
            <a:avLst>
              <a:gd name="adj" fmla="val 5000"/>
            </a:avLst>
          </a:prstGeom>
          <a:solidFill>
            <a:schemeClr val="bg2"/>
          </a:solidFill>
          <a:ln w="9525">
            <a:solidFill>
              <a:srgbClr val="D5DEDC"/>
            </a:solidFill>
            <a:prstDash val="solid"/>
          </a:ln>
        </p:spPr>
      </p:sp>
      <p:sp>
        <p:nvSpPr>
          <p:cNvPr id="11" name="Text 8"/>
          <p:cNvSpPr txBox="1"/>
          <p:nvPr/>
        </p:nvSpPr>
        <p:spPr>
          <a:xfrm>
            <a:off x="6400800" y="1600200"/>
            <a:ext cx="224028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KNN</a:t>
            </a:r>
            <a:endParaRPr lang="en-US" sz="2200" dirty="0"/>
          </a:p>
        </p:txBody>
      </p:sp>
      <p:sp>
        <p:nvSpPr>
          <p:cNvPr id="12" name="Text 9"/>
          <p:cNvSpPr txBox="1"/>
          <p:nvPr/>
        </p:nvSpPr>
        <p:spPr>
          <a:xfrm>
            <a:off x="6400800" y="2194560"/>
            <a:ext cx="2240280" cy="1325880"/>
          </a:xfrm>
          <a:prstGeom prst="rect">
            <a:avLst/>
          </a:prstGeom>
          <a:noFill/>
          <a:ln/>
        </p:spPr>
        <p:txBody>
          <a:bodyPr wrap="square" lIns="0" tIns="0" rIns="0" bIns="0" rtlCol="0" anchor="t"/>
          <a:lstStyle/>
          <a:p>
            <a:pPr indent="0" marL="0">
              <a:buNone/>
            </a:pPr>
            <a:r>
              <a:rPr lang="en-US" sz="1600" dirty="0">
                <a:solidFill>
                  <a:schemeClr val="tx1"/>
                </a:solidFill>
              </a:rPr>
              <a:t>Les 31 fenêtres les plus proches votent. Sensible aux crises.</a:t>
            </a:r>
            <a:endParaRPr lang="en-US" sz="1600" dirty="0"/>
          </a:p>
        </p:txBody>
      </p:sp>
      <p:sp>
        <p:nvSpPr>
          <p:cNvPr id="13" name="Carte SVM"/>
          <p:cNvSpPr/>
          <p:nvPr/>
        </p:nvSpPr>
        <p:spPr>
          <a:xfrm>
            <a:off x="9052560" y="1463040"/>
            <a:ext cx="2606040" cy="2194560"/>
          </a:xfrm>
          <a:prstGeom prst="roundRect">
            <a:avLst>
              <a:gd name="adj" fmla="val 5000"/>
            </a:avLst>
          </a:prstGeom>
          <a:solidFill>
            <a:schemeClr val="bg2"/>
          </a:solidFill>
          <a:ln w="9525">
            <a:solidFill>
              <a:srgbClr val="D5DEDC"/>
            </a:solidFill>
            <a:prstDash val="solid"/>
          </a:ln>
        </p:spPr>
      </p:sp>
      <p:sp>
        <p:nvSpPr>
          <p:cNvPr id="14" name="Text 11"/>
          <p:cNvSpPr txBox="1"/>
          <p:nvPr/>
        </p:nvSpPr>
        <p:spPr>
          <a:xfrm>
            <a:off x="9235440" y="1600200"/>
            <a:ext cx="224028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SVM</a:t>
            </a:r>
            <a:endParaRPr lang="en-US" sz="2200" dirty="0"/>
          </a:p>
        </p:txBody>
      </p:sp>
      <p:sp>
        <p:nvSpPr>
          <p:cNvPr id="15" name="Text 12"/>
          <p:cNvSpPr txBox="1"/>
          <p:nvPr/>
        </p:nvSpPr>
        <p:spPr>
          <a:xfrm>
            <a:off x="9235440" y="2194560"/>
            <a:ext cx="2240280" cy="1325880"/>
          </a:xfrm>
          <a:prstGeom prst="rect">
            <a:avLst/>
          </a:prstGeom>
          <a:noFill/>
          <a:ln/>
        </p:spPr>
        <p:txBody>
          <a:bodyPr wrap="square" lIns="0" tIns="0" rIns="0" bIns="0" rtlCol="0" anchor="t"/>
          <a:lstStyle/>
          <a:p>
            <a:pPr indent="0" marL="0">
              <a:buNone/>
            </a:pPr>
            <a:r>
              <a:rPr lang="en-US" sz="1600" dirty="0">
                <a:solidFill>
                  <a:schemeClr val="tx1"/>
                </a:solidFill>
              </a:rPr>
              <a:t>Frontière à marge maximale, noyau RBF.</a:t>
            </a:r>
            <a:endParaRPr lang="en-US" sz="1600" dirty="0"/>
          </a:p>
        </p:txBody>
      </p:sp>
      <p:sp>
        <p:nvSpPr>
          <p:cNvPr id="16" name="Sous-titre"/>
          <p:cNvSpPr txBox="1"/>
          <p:nvPr/>
        </p:nvSpPr>
        <p:spPr>
          <a:xfrm>
            <a:off x="548640" y="4023360"/>
            <a:ext cx="1106424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Corriger le déséquilibre (crises = 3,5 % des fenêtres)</a:t>
            </a:r>
            <a:endParaRPr lang="en-US" sz="2200" dirty="0"/>
          </a:p>
        </p:txBody>
      </p:sp>
      <p:sp>
        <p:nvSpPr>
          <p:cNvPr id="17" name="Carte Pondération des classes"/>
          <p:cNvSpPr/>
          <p:nvPr/>
        </p:nvSpPr>
        <p:spPr>
          <a:xfrm>
            <a:off x="548640" y="4572000"/>
            <a:ext cx="3566160" cy="1417320"/>
          </a:xfrm>
          <a:prstGeom prst="roundRect">
            <a:avLst>
              <a:gd name="adj" fmla="val 6452"/>
            </a:avLst>
          </a:prstGeom>
          <a:solidFill>
            <a:schemeClr val="bg1"/>
          </a:solidFill>
          <a:ln w="15875">
            <a:solidFill>
              <a:schemeClr val="accent2"/>
            </a:solidFill>
            <a:prstDash val="solid"/>
          </a:ln>
        </p:spPr>
      </p:sp>
      <p:sp>
        <p:nvSpPr>
          <p:cNvPr id="18" name="Text 15"/>
          <p:cNvSpPr txBox="1"/>
          <p:nvPr/>
        </p:nvSpPr>
        <p:spPr>
          <a:xfrm>
            <a:off x="731520" y="4663440"/>
            <a:ext cx="3200400" cy="411480"/>
          </a:xfrm>
          <a:prstGeom prst="rect">
            <a:avLst/>
          </a:prstGeom>
          <a:noFill/>
          <a:ln/>
        </p:spPr>
        <p:txBody>
          <a:bodyPr wrap="square" lIns="0" tIns="0" rIns="0" bIns="0" rtlCol="0" anchor="ctr"/>
          <a:lstStyle/>
          <a:p>
            <a:pPr indent="0" marL="0">
              <a:buNone/>
            </a:pPr>
            <a:r>
              <a:rPr lang="en-US" sz="1800" b="1" dirty="0">
                <a:solidFill>
                  <a:schemeClr val="tx1"/>
                </a:solidFill>
              </a:rPr>
              <a:t>Pondération des classes</a:t>
            </a:r>
            <a:endParaRPr lang="en-US" sz="1800" dirty="0"/>
          </a:p>
        </p:txBody>
      </p:sp>
      <p:sp>
        <p:nvSpPr>
          <p:cNvPr id="19" name="Text 16"/>
          <p:cNvSpPr txBox="1"/>
          <p:nvPr/>
        </p:nvSpPr>
        <p:spPr>
          <a:xfrm>
            <a:off x="731520" y="5074920"/>
            <a:ext cx="3200400" cy="822960"/>
          </a:xfrm>
          <a:prstGeom prst="rect">
            <a:avLst/>
          </a:prstGeom>
          <a:noFill/>
          <a:ln/>
        </p:spPr>
        <p:txBody>
          <a:bodyPr wrap="square" lIns="0" tIns="0" rIns="0" bIns="0" rtlCol="0" anchor="t"/>
          <a:lstStyle/>
          <a:p>
            <a:pPr indent="0" marL="0">
              <a:buNone/>
            </a:pPr>
            <a:r>
              <a:rPr lang="en-US" sz="1500" dirty="0">
                <a:solidFill>
                  <a:schemeClr val="tx1"/>
                </a:solidFill>
              </a:rPr>
              <a:t>DT, RF, SVM</a:t>
            </a:r>
            <a:endParaRPr lang="en-US" sz="1500" dirty="0"/>
          </a:p>
        </p:txBody>
      </p:sp>
      <p:sp>
        <p:nvSpPr>
          <p:cNvPr id="20" name="Carte Sous-échantillonnage"/>
          <p:cNvSpPr/>
          <p:nvPr/>
        </p:nvSpPr>
        <p:spPr>
          <a:xfrm>
            <a:off x="4297680" y="4572000"/>
            <a:ext cx="3566160" cy="1417320"/>
          </a:xfrm>
          <a:prstGeom prst="roundRect">
            <a:avLst>
              <a:gd name="adj" fmla="val 6452"/>
            </a:avLst>
          </a:prstGeom>
          <a:solidFill>
            <a:schemeClr val="bg1"/>
          </a:solidFill>
          <a:ln w="15875">
            <a:solidFill>
              <a:schemeClr val="accent2"/>
            </a:solidFill>
            <a:prstDash val="solid"/>
          </a:ln>
        </p:spPr>
      </p:sp>
      <p:sp>
        <p:nvSpPr>
          <p:cNvPr id="21" name="Text 18"/>
          <p:cNvSpPr txBox="1"/>
          <p:nvPr/>
        </p:nvSpPr>
        <p:spPr>
          <a:xfrm>
            <a:off x="4480560" y="4663440"/>
            <a:ext cx="3200400" cy="411480"/>
          </a:xfrm>
          <a:prstGeom prst="rect">
            <a:avLst/>
          </a:prstGeom>
          <a:noFill/>
          <a:ln/>
        </p:spPr>
        <p:txBody>
          <a:bodyPr wrap="square" lIns="0" tIns="0" rIns="0" bIns="0" rtlCol="0" anchor="ctr"/>
          <a:lstStyle/>
          <a:p>
            <a:pPr indent="0" marL="0">
              <a:buNone/>
            </a:pPr>
            <a:r>
              <a:rPr lang="en-US" sz="1800" b="1" dirty="0">
                <a:solidFill>
                  <a:schemeClr val="tx1"/>
                </a:solidFill>
              </a:rPr>
              <a:t>Sous-échantillonnage</a:t>
            </a:r>
            <a:endParaRPr lang="en-US" sz="1800" dirty="0"/>
          </a:p>
        </p:txBody>
      </p:sp>
      <p:sp>
        <p:nvSpPr>
          <p:cNvPr id="22" name="Text 19"/>
          <p:cNvSpPr txBox="1"/>
          <p:nvPr/>
        </p:nvSpPr>
        <p:spPr>
          <a:xfrm>
            <a:off x="4480560" y="5074920"/>
            <a:ext cx="3200400" cy="822960"/>
          </a:xfrm>
          <a:prstGeom prst="rect">
            <a:avLst/>
          </a:prstGeom>
          <a:noFill/>
          <a:ln/>
        </p:spPr>
        <p:txBody>
          <a:bodyPr wrap="square" lIns="0" tIns="0" rIns="0" bIns="0" rtlCol="0" anchor="t"/>
          <a:lstStyle/>
          <a:p>
            <a:pPr indent="0" marL="0">
              <a:buNone/>
            </a:pPr>
            <a:r>
              <a:rPr lang="en-US" sz="1500" dirty="0">
                <a:solidFill>
                  <a:schemeClr val="tx1"/>
                </a:solidFill>
              </a:rPr>
              <a:t>KNN : 5 non-crises pour 1 crise</a:t>
            </a:r>
            <a:endParaRPr lang="en-US" sz="1500" dirty="0"/>
          </a:p>
        </p:txBody>
      </p:sp>
      <p:sp>
        <p:nvSpPr>
          <p:cNvPr id="23" name="Carte Data augmentation"/>
          <p:cNvSpPr/>
          <p:nvPr/>
        </p:nvSpPr>
        <p:spPr>
          <a:xfrm>
            <a:off x="8046720" y="4572000"/>
            <a:ext cx="3566160" cy="1417320"/>
          </a:xfrm>
          <a:prstGeom prst="roundRect">
            <a:avLst>
              <a:gd name="adj" fmla="val 6452"/>
            </a:avLst>
          </a:prstGeom>
          <a:solidFill>
            <a:schemeClr val="bg1"/>
          </a:solidFill>
          <a:ln w="15875">
            <a:solidFill>
              <a:schemeClr val="accent2"/>
            </a:solidFill>
            <a:prstDash val="solid"/>
          </a:ln>
        </p:spPr>
      </p:sp>
      <p:sp>
        <p:nvSpPr>
          <p:cNvPr id="24" name="Text 21"/>
          <p:cNvSpPr txBox="1"/>
          <p:nvPr/>
        </p:nvSpPr>
        <p:spPr>
          <a:xfrm>
            <a:off x="8229600" y="4663440"/>
            <a:ext cx="3200400" cy="411480"/>
          </a:xfrm>
          <a:prstGeom prst="rect">
            <a:avLst/>
          </a:prstGeom>
          <a:noFill/>
          <a:ln/>
        </p:spPr>
        <p:txBody>
          <a:bodyPr wrap="square" lIns="0" tIns="0" rIns="0" bIns="0" rtlCol="0" anchor="ctr"/>
          <a:lstStyle/>
          <a:p>
            <a:pPr indent="0" marL="0">
              <a:buNone/>
            </a:pPr>
            <a:r>
              <a:rPr lang="en-US" sz="1800" b="1" dirty="0">
                <a:solidFill>
                  <a:schemeClr val="tx1"/>
                </a:solidFill>
              </a:rPr>
              <a:t>Data augmentation</a:t>
            </a:r>
            <a:endParaRPr lang="en-US" sz="1800" dirty="0"/>
          </a:p>
        </p:txBody>
      </p:sp>
      <p:sp>
        <p:nvSpPr>
          <p:cNvPr id="25" name="Text 22"/>
          <p:cNvSpPr txBox="1"/>
          <p:nvPr/>
        </p:nvSpPr>
        <p:spPr>
          <a:xfrm>
            <a:off x="8229600" y="5074920"/>
            <a:ext cx="3200400" cy="822960"/>
          </a:xfrm>
          <a:prstGeom prst="rect">
            <a:avLst/>
          </a:prstGeom>
          <a:noFill/>
          <a:ln/>
        </p:spPr>
        <p:txBody>
          <a:bodyPr wrap="square" lIns="0" tIns="0" rIns="0" bIns="0" rtlCol="0" anchor="t"/>
          <a:lstStyle/>
          <a:p>
            <a:pPr indent="0" marL="0">
              <a:buNone/>
            </a:pPr>
            <a:r>
              <a:rPr lang="en-US" sz="1500" dirty="0">
                <a:solidFill>
                  <a:schemeClr val="tx1"/>
                </a:solidFill>
              </a:rPr>
              <a:t>2× plus de crises synthétiques (bruit gaussien), train seulement</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Deux protocoles : celui du sujet, et le réaliste</a:t>
            </a:r>
            <a:endParaRPr lang="en-US" sz="3200" dirty="0"/>
          </a:p>
        </p:txBody>
      </p:sp>
      <p:sp>
        <p:nvSpPr>
          <p:cNvPr id="4" name="Carte Stratifié 80/20 (sujet)"/>
          <p:cNvSpPr/>
          <p:nvPr/>
        </p:nvSpPr>
        <p:spPr>
          <a:xfrm>
            <a:off x="548640" y="1463040"/>
            <a:ext cx="5394960" cy="4480560"/>
          </a:xfrm>
          <a:prstGeom prst="roundRect">
            <a:avLst>
              <a:gd name="adj" fmla="val 2449"/>
            </a:avLst>
          </a:prstGeom>
          <a:solidFill>
            <a:schemeClr val="bg2"/>
          </a:solidFill>
          <a:ln w="9525">
            <a:solidFill>
              <a:srgbClr val="D5DEDC"/>
            </a:solidFill>
            <a:prstDash val="solid"/>
          </a:ln>
        </p:spPr>
      </p:sp>
      <p:sp>
        <p:nvSpPr>
          <p:cNvPr id="5" name="Text 2"/>
          <p:cNvSpPr txBox="1"/>
          <p:nvPr/>
        </p:nvSpPr>
        <p:spPr>
          <a:xfrm>
            <a:off x="868680" y="1645920"/>
            <a:ext cx="475488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Stratifié 80/20 (sujet)</a:t>
            </a:r>
            <a:endParaRPr lang="en-US" sz="2400" dirty="0"/>
          </a:p>
        </p:txBody>
      </p:sp>
      <p:sp>
        <p:nvSpPr>
          <p:cNvPr id="6" name="Text 3"/>
          <p:cNvSpPr txBox="1"/>
          <p:nvPr/>
        </p:nvSpPr>
        <p:spPr>
          <a:xfrm>
            <a:off x="868680" y="2286000"/>
            <a:ext cx="4754880" cy="868680"/>
          </a:xfrm>
          <a:prstGeom prst="rect">
            <a:avLst/>
          </a:prstGeom>
          <a:noFill/>
          <a:ln/>
        </p:spPr>
        <p:txBody>
          <a:bodyPr wrap="square" lIns="0" tIns="0" rIns="0" bIns="0" rtlCol="0" anchor="t"/>
          <a:lstStyle/>
          <a:p>
            <a:pPr indent="0" marL="0">
              <a:buNone/>
            </a:pPr>
            <a:r>
              <a:rPr lang="en-US" sz="1600" dirty="0">
                <a:solidFill>
                  <a:schemeClr val="tx1"/>
                </a:solidFill>
              </a:rPr>
              <a:t>Séparation aléatoire des fenêtres, proportion de crises conservée.</a:t>
            </a:r>
            <a:endParaRPr lang="en-US" sz="1600" dirty="0"/>
          </a:p>
        </p:txBody>
      </p:sp>
      <p:sp>
        <p:nvSpPr>
          <p:cNvPr id="7" name="Text 4"/>
          <p:cNvSpPr txBox="1"/>
          <p:nvPr/>
        </p:nvSpPr>
        <p:spPr>
          <a:xfrm>
            <a:off x="868680" y="3154680"/>
            <a:ext cx="4754880" cy="868680"/>
          </a:xfrm>
          <a:prstGeom prst="rect">
            <a:avLst/>
          </a:prstGeom>
          <a:noFill/>
          <a:ln/>
        </p:spPr>
        <p:txBody>
          <a:bodyPr wrap="square" lIns="0" tIns="0" rIns="0" bIns="0" rtlCol="0" anchor="t"/>
          <a:lstStyle/>
          <a:p>
            <a:pPr indent="0" marL="0">
              <a:buNone/>
            </a:pPr>
            <a:r>
              <a:rPr lang="en-US" sz="1600" b="1" dirty="0">
                <a:solidFill>
                  <a:schemeClr val="tx1"/>
                </a:solidFill>
              </a:rPr>
              <a:t>Optimiste : des fenêtres voisines quasi identiques sont dans le train et dans le test.</a:t>
            </a:r>
            <a:endParaRPr lang="en-US" sz="1600" dirty="0"/>
          </a:p>
        </p:txBody>
      </p:sp>
      <p:sp>
        <p:nvSpPr>
          <p:cNvPr id="8" name="Text 5"/>
          <p:cNvSpPr txBox="1"/>
          <p:nvPr/>
        </p:nvSpPr>
        <p:spPr>
          <a:xfrm>
            <a:off x="868680" y="4114800"/>
            <a:ext cx="2377440" cy="118872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0,77</a:t>
            </a:r>
            <a:endParaRPr lang="en-US" sz="6600" dirty="0"/>
          </a:p>
        </p:txBody>
      </p:sp>
      <p:sp>
        <p:nvSpPr>
          <p:cNvPr id="9" name="Text 6"/>
          <p:cNvSpPr txBox="1"/>
          <p:nvPr/>
        </p:nvSpPr>
        <p:spPr>
          <a:xfrm>
            <a:off x="3291840" y="4206240"/>
            <a:ext cx="2468880" cy="1005840"/>
          </a:xfrm>
          <a:prstGeom prst="rect">
            <a:avLst/>
          </a:prstGeom>
          <a:noFill/>
          <a:ln/>
        </p:spPr>
        <p:txBody>
          <a:bodyPr wrap="square" lIns="0" tIns="0" rIns="0" bIns="0" rtlCol="0" anchor="ctr"/>
          <a:lstStyle/>
          <a:p>
            <a:pPr indent="0" marL="0">
              <a:buNone/>
            </a:pPr>
            <a:r>
              <a:rPr lang="en-US" sz="1500" dirty="0">
                <a:solidFill>
                  <a:schemeClr val="tx1"/>
                </a:solidFill>
              </a:rPr>
              <a:t>F1 du Random Forest</a:t>
            </a:r>
            <a:endParaRPr lang="en-US" sz="1500" dirty="0"/>
          </a:p>
          <a:p>
            <a:pPr indent="0" marL="0">
              <a:buNone/>
            </a:pPr>
            <a:r>
              <a:rPr lang="en-US" sz="1500" dirty="0">
                <a:solidFill>
                  <a:schemeClr val="tx1"/>
                </a:solidFill>
              </a:rPr>
              <a:t>(seuil 0,5, de base)</a:t>
            </a:r>
            <a:endParaRPr lang="en-US" sz="1500" dirty="0"/>
          </a:p>
        </p:txBody>
      </p:sp>
      <p:sp>
        <p:nvSpPr>
          <p:cNvPr id="10" name="Carte Un patient laissé de côté"/>
          <p:cNvSpPr/>
          <p:nvPr/>
        </p:nvSpPr>
        <p:spPr>
          <a:xfrm>
            <a:off x="6217920" y="1463040"/>
            <a:ext cx="5394960" cy="4480560"/>
          </a:xfrm>
          <a:prstGeom prst="roundRect">
            <a:avLst>
              <a:gd name="adj" fmla="val 2449"/>
            </a:avLst>
          </a:prstGeom>
          <a:solidFill>
            <a:schemeClr val="bg2"/>
          </a:solidFill>
          <a:ln w="9525">
            <a:solidFill>
              <a:srgbClr val="D5DEDC"/>
            </a:solidFill>
            <a:prstDash val="solid"/>
          </a:ln>
        </p:spPr>
      </p:sp>
      <p:sp>
        <p:nvSpPr>
          <p:cNvPr id="11" name="Text 8"/>
          <p:cNvSpPr txBox="1"/>
          <p:nvPr/>
        </p:nvSpPr>
        <p:spPr>
          <a:xfrm>
            <a:off x="6537960" y="1645920"/>
            <a:ext cx="475488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Un patient laissé de côté</a:t>
            </a:r>
            <a:endParaRPr lang="en-US" sz="2400" dirty="0"/>
          </a:p>
        </p:txBody>
      </p:sp>
      <p:sp>
        <p:nvSpPr>
          <p:cNvPr id="12" name="Text 9"/>
          <p:cNvSpPr txBox="1"/>
          <p:nvPr/>
        </p:nvSpPr>
        <p:spPr>
          <a:xfrm>
            <a:off x="6537960" y="2286000"/>
            <a:ext cx="4754880" cy="868680"/>
          </a:xfrm>
          <a:prstGeom prst="rect">
            <a:avLst/>
          </a:prstGeom>
          <a:noFill/>
          <a:ln/>
        </p:spPr>
        <p:txBody>
          <a:bodyPr wrap="square" lIns="0" tIns="0" rIns="0" bIns="0" rtlCol="0" anchor="t"/>
          <a:lstStyle/>
          <a:p>
            <a:pPr indent="0" marL="0">
              <a:buNone/>
            </a:pPr>
            <a:r>
              <a:rPr lang="en-US" sz="1600" dirty="0">
                <a:solidFill>
                  <a:schemeClr val="tx1"/>
                </a:solidFill>
              </a:rPr>
              <a:t>22 entraînements : chaque enregistrement est testé par un modèle qui ne l'a jamais vu.</a:t>
            </a:r>
            <a:endParaRPr lang="en-US" sz="1600" dirty="0"/>
          </a:p>
        </p:txBody>
      </p:sp>
      <p:sp>
        <p:nvSpPr>
          <p:cNvPr id="13" name="Text 10"/>
          <p:cNvSpPr txBox="1"/>
          <p:nvPr/>
        </p:nvSpPr>
        <p:spPr>
          <a:xfrm>
            <a:off x="6537960" y="3154680"/>
            <a:ext cx="4754880" cy="868680"/>
          </a:xfrm>
          <a:prstGeom prst="rect">
            <a:avLst/>
          </a:prstGeom>
          <a:noFill/>
          <a:ln/>
        </p:spPr>
        <p:txBody>
          <a:bodyPr wrap="square" lIns="0" tIns="0" rIns="0" bIns="0" rtlCol="0" anchor="t"/>
          <a:lstStyle/>
          <a:p>
            <a:pPr indent="0" marL="0">
              <a:buNone/>
            </a:pPr>
            <a:r>
              <a:rPr lang="en-US" sz="1600" b="1" dirty="0">
                <a:solidFill>
                  <a:schemeClr val="tx1"/>
                </a:solidFill>
              </a:rPr>
              <a:t>Réaliste : c'est ce qui arrive avec un nouveau patient.</a:t>
            </a:r>
            <a:endParaRPr lang="en-US" sz="1600" dirty="0"/>
          </a:p>
        </p:txBody>
      </p:sp>
      <p:sp>
        <p:nvSpPr>
          <p:cNvPr id="14" name="Text 11"/>
          <p:cNvSpPr txBox="1"/>
          <p:nvPr/>
        </p:nvSpPr>
        <p:spPr>
          <a:xfrm>
            <a:off x="6537960" y="4114800"/>
            <a:ext cx="2377440"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0,64</a:t>
            </a:r>
            <a:endParaRPr lang="en-US" sz="6600" dirty="0"/>
          </a:p>
        </p:txBody>
      </p:sp>
      <p:sp>
        <p:nvSpPr>
          <p:cNvPr id="15" name="Text 12"/>
          <p:cNvSpPr txBox="1"/>
          <p:nvPr/>
        </p:nvSpPr>
        <p:spPr>
          <a:xfrm>
            <a:off x="8961120" y="4206240"/>
            <a:ext cx="2468880" cy="1005840"/>
          </a:xfrm>
          <a:prstGeom prst="rect">
            <a:avLst/>
          </a:prstGeom>
          <a:noFill/>
          <a:ln/>
        </p:spPr>
        <p:txBody>
          <a:bodyPr wrap="square" lIns="0" tIns="0" rIns="0" bIns="0" rtlCol="0" anchor="ctr"/>
          <a:lstStyle/>
          <a:p>
            <a:pPr indent="0" marL="0">
              <a:buNone/>
            </a:pPr>
            <a:r>
              <a:rPr lang="en-US" sz="1500" dirty="0">
                <a:solidFill>
                  <a:schemeClr val="tx1"/>
                </a:solidFill>
              </a:rPr>
              <a:t>F1 du Random Forest</a:t>
            </a:r>
            <a:endParaRPr lang="en-US" sz="1500" dirty="0"/>
          </a:p>
          <a:p>
            <a:pPr indent="0" marL="0">
              <a:buNone/>
            </a:pPr>
            <a:r>
              <a:rPr lang="en-US" sz="1500" dirty="0">
                <a:solidFill>
                  <a:schemeClr val="tx1"/>
                </a:solidFill>
              </a:rPr>
              <a:t>(seuil 0,5, de base)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Pourquoi la Balanced Accuracy</a:t>
            </a:r>
            <a:endParaRPr lang="en-US" sz="3200" dirty="0"/>
          </a:p>
        </p:txBody>
      </p:sp>
      <p:sp>
        <p:nvSpPr>
          <p:cNvPr id="4" name="Introduction"/>
          <p:cNvSpPr txBox="1"/>
          <p:nvPr/>
        </p:nvSpPr>
        <p:spPr>
          <a:xfrm>
            <a:off x="548640" y="1417320"/>
            <a:ext cx="11064240" cy="457200"/>
          </a:xfrm>
          <a:prstGeom prst="rect">
            <a:avLst/>
          </a:prstGeom>
          <a:noFill/>
          <a:ln/>
        </p:spPr>
        <p:txBody>
          <a:bodyPr wrap="square" lIns="0" tIns="0" rIns="0" bIns="0" rtlCol="0" anchor="ctr"/>
          <a:lstStyle/>
          <a:p>
            <a:pPr indent="0" marL="0">
              <a:buNone/>
            </a:pPr>
            <a:r>
              <a:rPr lang="en-US" sz="2000" dirty="0">
                <a:solidFill>
                  <a:schemeClr val="tx1"/>
                </a:solidFill>
              </a:rPr>
              <a:t>Un modèle qui répond toujours « pas de crise »</a:t>
            </a:r>
            <a:endParaRPr lang="en-US" sz="2000" dirty="0"/>
          </a:p>
        </p:txBody>
      </p:sp>
      <p:sp>
        <p:nvSpPr>
          <p:cNvPr id="5" name="Carte Accuracy"/>
          <p:cNvSpPr/>
          <p:nvPr/>
        </p:nvSpPr>
        <p:spPr>
          <a:xfrm>
            <a:off x="548640" y="2057400"/>
            <a:ext cx="3566160" cy="2377440"/>
          </a:xfrm>
          <a:prstGeom prst="roundRect">
            <a:avLst>
              <a:gd name="adj" fmla="val 4615"/>
            </a:avLst>
          </a:prstGeom>
          <a:solidFill>
            <a:schemeClr val="bg2"/>
          </a:solidFill>
          <a:ln w="9525">
            <a:solidFill>
              <a:srgbClr val="D5DEDC"/>
            </a:solidFill>
            <a:prstDash val="solid"/>
          </a:ln>
        </p:spPr>
      </p:sp>
      <p:sp>
        <p:nvSpPr>
          <p:cNvPr id="6" name="Text 3"/>
          <p:cNvSpPr txBox="1"/>
          <p:nvPr/>
        </p:nvSpPr>
        <p:spPr>
          <a:xfrm>
            <a:off x="548640" y="2148840"/>
            <a:ext cx="3566160" cy="1188720"/>
          </a:xfrm>
          <a:prstGeom prst="rect">
            <a:avLst/>
          </a:prstGeom>
          <a:noFill/>
          <a:ln/>
        </p:spPr>
        <p:txBody>
          <a:bodyPr wrap="square" lIns="0" tIns="0" rIns="0" bIns="0" rtlCol="0" anchor="ctr"/>
          <a:lstStyle/>
          <a:p>
            <a:pPr algn="ctr" indent="0" marL="0">
              <a:buNone/>
            </a:pPr>
            <a:r>
              <a:rPr lang="en-US" sz="6000" b="1" dirty="0">
                <a:solidFill>
                  <a:schemeClr val="tx1"/>
                </a:solidFill>
                <a:latin typeface="Cambria" pitchFamily="34" charset="0"/>
                <a:ea typeface="Cambria" pitchFamily="34" charset="-122"/>
                <a:cs typeface="Cambria" pitchFamily="34" charset="-120"/>
              </a:rPr>
              <a:t>96,5 %</a:t>
            </a:r>
            <a:endParaRPr lang="en-US" sz="6000" dirty="0"/>
          </a:p>
        </p:txBody>
      </p:sp>
      <p:sp>
        <p:nvSpPr>
          <p:cNvPr id="7" name="Text 4"/>
          <p:cNvSpPr txBox="1"/>
          <p:nvPr/>
        </p:nvSpPr>
        <p:spPr>
          <a:xfrm>
            <a:off x="548640" y="3383280"/>
            <a:ext cx="3566160" cy="411480"/>
          </a:xfrm>
          <a:prstGeom prst="rect">
            <a:avLst/>
          </a:prstGeom>
          <a:noFill/>
          <a:ln/>
        </p:spPr>
        <p:txBody>
          <a:bodyPr wrap="square" lIns="0" tIns="0" rIns="0" bIns="0" rtlCol="0" anchor="ctr"/>
          <a:lstStyle/>
          <a:p>
            <a:pPr algn="ctr" indent="0" marL="0">
              <a:buNone/>
            </a:pPr>
            <a:r>
              <a:rPr lang="en-US" sz="2000" b="1" dirty="0">
                <a:solidFill>
                  <a:schemeClr val="tx2"/>
                </a:solidFill>
              </a:rPr>
              <a:t>Accuracy</a:t>
            </a:r>
            <a:endParaRPr lang="en-US" sz="2000" dirty="0"/>
          </a:p>
        </p:txBody>
      </p:sp>
      <p:sp>
        <p:nvSpPr>
          <p:cNvPr id="8" name="Text 5"/>
          <p:cNvSpPr txBox="1"/>
          <p:nvPr/>
        </p:nvSpPr>
        <p:spPr>
          <a:xfrm>
            <a:off x="548640" y="3794760"/>
            <a:ext cx="3566160" cy="411480"/>
          </a:xfrm>
          <a:prstGeom prst="rect">
            <a:avLst/>
          </a:prstGeom>
          <a:noFill/>
          <a:ln/>
        </p:spPr>
        <p:txBody>
          <a:bodyPr wrap="square" lIns="0" tIns="0" rIns="0" bIns="0" rtlCol="0" anchor="ctr"/>
          <a:lstStyle/>
          <a:p>
            <a:pPr algn="ctr" indent="0" marL="0">
              <a:buNone/>
            </a:pPr>
            <a:r>
              <a:rPr lang="en-US" sz="1600" dirty="0">
                <a:solidFill>
                  <a:schemeClr val="tx1"/>
                </a:solidFill>
              </a:rPr>
              <a:t>trompeuse</a:t>
            </a:r>
            <a:endParaRPr lang="en-US" sz="1600" dirty="0"/>
          </a:p>
        </p:txBody>
      </p:sp>
      <p:sp>
        <p:nvSpPr>
          <p:cNvPr id="9" name="Carte Balanced Accuracy"/>
          <p:cNvSpPr/>
          <p:nvPr/>
        </p:nvSpPr>
        <p:spPr>
          <a:xfrm>
            <a:off x="4389120" y="2057400"/>
            <a:ext cx="3566160" cy="2377440"/>
          </a:xfrm>
          <a:prstGeom prst="roundRect">
            <a:avLst>
              <a:gd name="adj" fmla="val 4615"/>
            </a:avLst>
          </a:prstGeom>
          <a:solidFill>
            <a:schemeClr val="bg2"/>
          </a:solidFill>
          <a:ln w="9525">
            <a:solidFill>
              <a:srgbClr val="D5DEDC"/>
            </a:solidFill>
            <a:prstDash val="solid"/>
          </a:ln>
        </p:spPr>
      </p:sp>
      <p:sp>
        <p:nvSpPr>
          <p:cNvPr id="10" name="Text 7"/>
          <p:cNvSpPr txBox="1"/>
          <p:nvPr/>
        </p:nvSpPr>
        <p:spPr>
          <a:xfrm>
            <a:off x="4389120" y="2148840"/>
            <a:ext cx="3566160" cy="1188720"/>
          </a:xfrm>
          <a:prstGeom prst="rect">
            <a:avLst/>
          </a:prstGeom>
          <a:noFill/>
          <a:ln/>
        </p:spPr>
        <p:txBody>
          <a:bodyPr wrap="square" lIns="0" tIns="0" rIns="0" bIns="0" rtlCol="0" anchor="ctr"/>
          <a:lstStyle/>
          <a:p>
            <a:pPr algn="ctr" indent="0" marL="0">
              <a:buNone/>
            </a:pPr>
            <a:r>
              <a:rPr lang="en-US" sz="6000" b="1" dirty="0">
                <a:solidFill>
                  <a:schemeClr val="accent2"/>
                </a:solidFill>
                <a:latin typeface="Cambria" pitchFamily="34" charset="0"/>
                <a:ea typeface="Cambria" pitchFamily="34" charset="-122"/>
                <a:cs typeface="Cambria" pitchFamily="34" charset="-120"/>
              </a:rPr>
              <a:t>50 %</a:t>
            </a:r>
            <a:endParaRPr lang="en-US" sz="6000" dirty="0"/>
          </a:p>
        </p:txBody>
      </p:sp>
      <p:sp>
        <p:nvSpPr>
          <p:cNvPr id="11" name="Text 8"/>
          <p:cNvSpPr txBox="1"/>
          <p:nvPr/>
        </p:nvSpPr>
        <p:spPr>
          <a:xfrm>
            <a:off x="4389120" y="3383280"/>
            <a:ext cx="3566160" cy="411480"/>
          </a:xfrm>
          <a:prstGeom prst="rect">
            <a:avLst/>
          </a:prstGeom>
          <a:noFill/>
          <a:ln/>
        </p:spPr>
        <p:txBody>
          <a:bodyPr wrap="square" lIns="0" tIns="0" rIns="0" bIns="0" rtlCol="0" anchor="ctr"/>
          <a:lstStyle/>
          <a:p>
            <a:pPr algn="ctr" indent="0" marL="0">
              <a:buNone/>
            </a:pPr>
            <a:r>
              <a:rPr lang="en-US" sz="2000" b="1" dirty="0">
                <a:solidFill>
                  <a:schemeClr val="tx2"/>
                </a:solidFill>
              </a:rPr>
              <a:t>Balanced Accuracy</a:t>
            </a:r>
            <a:endParaRPr lang="en-US" sz="2000" dirty="0"/>
          </a:p>
        </p:txBody>
      </p:sp>
      <p:sp>
        <p:nvSpPr>
          <p:cNvPr id="12" name="Text 9"/>
          <p:cNvSpPr txBox="1"/>
          <p:nvPr/>
        </p:nvSpPr>
        <p:spPr>
          <a:xfrm>
            <a:off x="4389120" y="3794760"/>
            <a:ext cx="3566160" cy="411480"/>
          </a:xfrm>
          <a:prstGeom prst="rect">
            <a:avLst/>
          </a:prstGeom>
          <a:noFill/>
          <a:ln/>
        </p:spPr>
        <p:txBody>
          <a:bodyPr wrap="square" lIns="0" tIns="0" rIns="0" bIns="0" rtlCol="0" anchor="ctr"/>
          <a:lstStyle/>
          <a:p>
            <a:pPr algn="ctr" indent="0" marL="0">
              <a:buNone/>
            </a:pPr>
            <a:r>
              <a:rPr lang="en-US" sz="1600" dirty="0">
                <a:solidFill>
                  <a:schemeClr val="tx1"/>
                </a:solidFill>
              </a:rPr>
              <a:t>pas mieux que le hasard</a:t>
            </a:r>
            <a:endParaRPr lang="en-US" sz="1600" dirty="0"/>
          </a:p>
        </p:txBody>
      </p:sp>
      <p:sp>
        <p:nvSpPr>
          <p:cNvPr id="13" name="Formule"/>
          <p:cNvSpPr/>
          <p:nvPr/>
        </p:nvSpPr>
        <p:spPr>
          <a:xfrm>
            <a:off x="8229600" y="2057400"/>
            <a:ext cx="3383280" cy="2377440"/>
          </a:xfrm>
          <a:prstGeom prst="roundRect">
            <a:avLst>
              <a:gd name="adj" fmla="val 4615"/>
            </a:avLst>
          </a:prstGeom>
          <a:solidFill>
            <a:schemeClr val="tx2"/>
          </a:solidFill>
          <a:ln w="12700">
            <a:solidFill>
              <a:schemeClr val="tx2"/>
            </a:solidFill>
            <a:prstDash val="solid"/>
          </a:ln>
        </p:spPr>
      </p:sp>
      <p:sp>
        <p:nvSpPr>
          <p:cNvPr id="14" name="Text 11"/>
          <p:cNvSpPr txBox="1"/>
          <p:nvPr/>
        </p:nvSpPr>
        <p:spPr>
          <a:xfrm>
            <a:off x="8412480" y="2194560"/>
            <a:ext cx="3017520" cy="2103120"/>
          </a:xfrm>
          <a:prstGeom prst="rect">
            <a:avLst/>
          </a:prstGeom>
          <a:noFill/>
          <a:ln/>
        </p:spPr>
        <p:txBody>
          <a:bodyPr wrap="square" lIns="0" tIns="0" rIns="0" bIns="0" rtlCol="0" anchor="ctr"/>
          <a:lstStyle/>
          <a:p>
            <a:pPr indent="0" marL="0">
              <a:buNone/>
            </a:pPr>
            <a:r>
              <a:rPr lang="en-US" sz="1800" b="1" dirty="0">
                <a:solidFill>
                  <a:schemeClr val="bg1"/>
                </a:solidFill>
              </a:rPr>
              <a:t>Balanced Accuracy =</a:t>
            </a:r>
            <a:endParaRPr lang="en-US" sz="1800" dirty="0"/>
          </a:p>
          <a:p>
            <a:pPr indent="0" marL="0">
              <a:buNone/>
            </a:pPr>
            <a:r>
              <a:rPr lang="en-US" sz="1800" dirty="0">
                <a:solidFill>
                  <a:schemeClr val="bg1"/>
                </a:solidFill>
              </a:rPr>
              <a:t>(Recall des crises</a:t>
            </a:r>
            <a:endParaRPr lang="en-US" sz="1800" dirty="0"/>
          </a:p>
          <a:p>
            <a:pPr indent="0" marL="0">
              <a:buNone/>
            </a:pPr>
            <a:r>
              <a:rPr lang="en-US" sz="1800" dirty="0">
                <a:solidFill>
                  <a:schemeClr val="bg1"/>
                </a:solidFill>
              </a:rPr>
              <a:t>+ Recall des non-crises) / 2</a:t>
            </a:r>
            <a:endParaRPr lang="en-US" sz="1800" dirty="0"/>
          </a:p>
        </p:txBody>
      </p:sp>
      <p:sp>
        <p:nvSpPr>
          <p:cNvPr id="15" name="Conclusion"/>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2000" dirty="0">
                <a:solidFill>
                  <a:schemeClr val="tx1"/>
                </a:solidFill>
              </a:rPr>
              <a:t>Chaque classe pèse autant, même si l'une est rare. On la lit avec le Recall, la Précision, le F1 et la PR-AUC.</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Augmentation et seuil appris rapprochent les modèles</a:t>
            </a:r>
            <a:endParaRPr lang="en-US" sz="3200" dirty="0"/>
          </a:p>
        </p:txBody>
      </p:sp>
      <p:graphicFrame>
        <p:nvGraphicFramePr>
          <p:cNvPr id="4" name="Chart 0" descr=""/>
          <p:cNvGraphicFramePr/>
          <p:nvPr/>
        </p:nvGraphicFramePr>
        <p:xfrm>
          <a:off x="548640" y="141732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417320"/>
          <a:ext cx="5486400" cy="3840480"/>
        </p:xfrm>
        <a:graphic xmlns:a="http://schemas.openxmlformats.org/drawingml/2006/main">
          <a:graphicData uri="http://schemas.openxmlformats.org/drawingml/2006/chart">
            <c:chart xmlns:c="http://schemas.openxmlformats.org/drawingml/2006/chart" r:id="rId2"/>
          </a:graphicData>
        </a:graphic>
      </p:graphicFrame>
      <p:sp>
        <p:nvSpPr>
          <p:cNvPr id="6" name="Encadré"/>
          <p:cNvSpPr/>
          <p:nvPr/>
        </p:nvSpPr>
        <p:spPr>
          <a:xfrm>
            <a:off x="548640" y="5394960"/>
            <a:ext cx="11109960" cy="868680"/>
          </a:xfrm>
          <a:prstGeom prst="roundRect">
            <a:avLst>
              <a:gd name="adj" fmla="val 10526"/>
            </a:avLst>
          </a:prstGeom>
          <a:solidFill>
            <a:schemeClr val="bg2"/>
          </a:solidFill>
          <a:ln w="9525">
            <a:solidFill>
              <a:srgbClr val="D5DEDC"/>
            </a:solidFill>
            <a:prstDash val="solid"/>
          </a:ln>
        </p:spPr>
      </p:sp>
      <p:sp>
        <p:nvSpPr>
          <p:cNvPr id="7" name="Text 2"/>
          <p:cNvSpPr txBox="1"/>
          <p:nvPr/>
        </p:nvSpPr>
        <p:spPr>
          <a:xfrm>
            <a:off x="777240" y="5440680"/>
            <a:ext cx="10652760" cy="777240"/>
          </a:xfrm>
          <a:prstGeom prst="rect">
            <a:avLst/>
          </a:prstGeom>
          <a:noFill/>
          <a:ln/>
        </p:spPr>
        <p:txBody>
          <a:bodyPr wrap="square" lIns="0" tIns="0" rIns="0" bIns="0" rtlCol="0" anchor="ctr"/>
          <a:lstStyle/>
          <a:p>
            <a:pPr indent="0" marL="0">
              <a:buNone/>
            </a:pPr>
            <a:r>
              <a:rPr lang="en-US" sz="1600" dirty="0">
                <a:solidFill>
                  <a:schemeClr val="tx1"/>
                </a:solidFill>
              </a:rPr>
              <a:t>Avec augmentation et seuil appris, les quatre modèles se rapprochent. Le gain est modeste, en partie un effet de seuil : à lire comme une tendance (82 crises seulement).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Détection temporelle : le Random Forest retrouve 68 crises sur 82</a:t>
            </a:r>
            <a:endParaRPr lang="en-US" sz="3200" dirty="0"/>
          </a:p>
        </p:txBody>
      </p:sp>
      <p:graphicFrame>
        <p:nvGraphicFramePr>
          <p:cNvPr id="10" name="Tableau détection"/>
          <p:cNvGraphicFramePr>
            <a:graphicFrameLocks noGrp="1"/>
          </p:cNvGraphicFramePr>
          <p:nvPr>
            <p:extLst>
              <p:ext uri="{D42A27DB-BD31-4B8C-83A1-F6EECF244321}">
                <p14:modId xmlns:p14="http://schemas.microsoft.com/office/powerpoint/2010/main" val="1579011935"/>
              </p:ext>
            </p:extLst>
          </p:nvPr>
        </p:nvGraphicFramePr>
        <p:xfrm>
          <a:off x="548640" y="1554480"/>
          <a:ext cx="7498080" cy="914400"/>
        </p:xfrm>
        <a:graphic>
          <a:graphicData uri="http://schemas.openxmlformats.org/drawingml/2006/table">
            <a:tbl>
              <a:tblPr/>
              <a:tblGrid>
                <a:gridCol w="2011680"/>
                <a:gridCol w="2011680"/>
                <a:gridCol w="1828800"/>
                <a:gridCol w="1645920"/>
              </a:tblGrid>
              <a:tr h="658368">
                <a:tc>
                  <a:txBody>
                    <a:bodyPr/>
                    <a:lstStyle/>
                    <a:p>
                      <a:pPr algn="l" indent="0" marL="0">
                        <a:buNone/>
                      </a:pPr>
                      <a:r>
                        <a:rPr lang="en-US" sz="1500" b="1" dirty="0">
                          <a:solidFill>
                            <a:schemeClr val="bg1"/>
                          </a:solidFill>
                        </a:rPr>
                        <a:t>Modèle</a:t>
                      </a:r>
                      <a:endParaRPr lang="en-US" sz="15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Crises retrouvées</a:t>
                      </a:r>
                      <a:endParaRPr lang="en-US" sz="15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Fausses alarmes / heure</a:t>
                      </a:r>
                      <a:endParaRPr lang="en-US" sz="15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Précision des événements</a:t>
                      </a:r>
                      <a:endParaRPr lang="en-US" sz="15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tx2"/>
                    </a:solidFill>
                  </a:tcPr>
                </a:tc>
              </a:tr>
              <a:tr h="658368">
                <a:tc>
                  <a:txBody>
                    <a:bodyPr/>
                    <a:lstStyle/>
                    <a:p>
                      <a:pPr indent="0" marL="0">
                        <a:buNone/>
                      </a:pPr>
                      <a:r>
                        <a:rPr lang="en-US" sz="1600" dirty="0">
                          <a:solidFill>
                            <a:schemeClr val="tx1"/>
                          </a:solidFill>
                        </a:rPr>
                        <a:t>Decision Tree</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75 / 82 (91 %)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34,4</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19 %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r>
              <a:tr h="658368">
                <a:tc>
                  <a:txBody>
                    <a:bodyPr/>
                    <a:lstStyle/>
                    <a:p>
                      <a:pPr indent="0" marL="0">
                        <a:buNone/>
                      </a:pPr>
                      <a:r>
                        <a:rPr lang="en-US" sz="1600" b="1" dirty="0">
                          <a:solidFill>
                            <a:schemeClr val="tx1"/>
                          </a:solidFill>
                        </a:rPr>
                        <a:t>Random Forest</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2"/>
                    </a:solidFill>
                  </a:tcPr>
                </a:tc>
                <a:tc>
                  <a:txBody>
                    <a:bodyPr/>
                    <a:lstStyle/>
                    <a:p>
                      <a:pPr indent="0" marL="0">
                        <a:buNone/>
                      </a:pPr>
                      <a:r>
                        <a:rPr lang="en-US" sz="1600" b="1" dirty="0">
                          <a:solidFill>
                            <a:schemeClr val="tx1"/>
                          </a:solidFill>
                        </a:rPr>
                        <a:t>68 / 82 (83 %)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2"/>
                    </a:solidFill>
                  </a:tcPr>
                </a:tc>
                <a:tc>
                  <a:txBody>
                    <a:bodyPr/>
                    <a:lstStyle/>
                    <a:p>
                      <a:pPr indent="0" marL="0">
                        <a:buNone/>
                      </a:pPr>
                      <a:r>
                        <a:rPr lang="en-US" sz="1600" b="1" dirty="0">
                          <a:solidFill>
                            <a:schemeClr val="tx1"/>
                          </a:solidFill>
                        </a:rPr>
                        <a:t>4,0</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2"/>
                    </a:solidFill>
                  </a:tcPr>
                </a:tc>
                <a:tc>
                  <a:txBody>
                    <a:bodyPr/>
                    <a:lstStyle/>
                    <a:p>
                      <a:pPr indent="0" marL="0">
                        <a:buNone/>
                      </a:pPr>
                      <a:r>
                        <a:rPr lang="en-US" sz="1600" b="1" dirty="0">
                          <a:solidFill>
                            <a:schemeClr val="tx1"/>
                          </a:solidFill>
                        </a:rPr>
                        <a:t>65 %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2"/>
                    </a:solidFill>
                  </a:tcPr>
                </a:tc>
              </a:tr>
              <a:tr h="658368">
                <a:tc>
                  <a:txBody>
                    <a:bodyPr/>
                    <a:lstStyle/>
                    <a:p>
                      <a:pPr indent="0" marL="0">
                        <a:buNone/>
                      </a:pPr>
                      <a:r>
                        <a:rPr lang="en-US" sz="1600" dirty="0">
                          <a:solidFill>
                            <a:schemeClr val="tx1"/>
                          </a:solidFill>
                        </a:rPr>
                        <a:t>KNN</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77 / 82 (94 %)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10,8</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44 %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r>
              <a:tr h="658368">
                <a:tc>
                  <a:txBody>
                    <a:bodyPr/>
                    <a:lstStyle/>
                    <a:p>
                      <a:pPr indent="0" marL="0">
                        <a:buNone/>
                      </a:pPr>
                      <a:r>
                        <a:rPr lang="en-US" sz="1600" dirty="0">
                          <a:solidFill>
                            <a:schemeClr val="tx1"/>
                          </a:solidFill>
                        </a:rPr>
                        <a:t>SVM</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56 / 82 (68 %)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7,0</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46 %</a:t>
                      </a:r>
                      <a:endParaRPr lang="en-US" sz="1600" dirty="0"/>
                    </a:p>
                  </a:txBody>
                  <a:tcPr marL="109728" marR="109728" marT="45720" marB="45720"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chemeClr val="bg1"/>
                    </a:solidFill>
                  </a:tcPr>
                </a:tc>
              </a:tr>
            </a:tbl>
          </a:graphicData>
        </a:graphic>
      </p:graphicFrame>
      <p:sp>
        <p:nvSpPr>
          <p:cNvPr id="5" name="Lecture"/>
          <p:cNvSpPr/>
          <p:nvPr/>
        </p:nvSpPr>
        <p:spPr>
          <a:xfrm>
            <a:off x="8412480" y="1554480"/>
            <a:ext cx="3246120" cy="3291840"/>
          </a:xfrm>
          <a:prstGeom prst="roundRect">
            <a:avLst>
              <a:gd name="adj" fmla="val 3380"/>
            </a:avLst>
          </a:prstGeom>
          <a:solidFill>
            <a:schemeClr val="bg2"/>
          </a:solidFill>
          <a:ln w="9525">
            <a:solidFill>
              <a:srgbClr val="D5DEDC"/>
            </a:solidFill>
            <a:prstDash val="solid"/>
          </a:ln>
        </p:spPr>
      </p:sp>
      <p:sp>
        <p:nvSpPr>
          <p:cNvPr id="6" name="Text 2"/>
          <p:cNvSpPr txBox="1"/>
          <p:nvPr/>
        </p:nvSpPr>
        <p:spPr>
          <a:xfrm>
            <a:off x="8595360" y="1691640"/>
            <a:ext cx="2880360" cy="2560320"/>
          </a:xfrm>
          <a:prstGeom prst="rect">
            <a:avLst/>
          </a:prstGeom>
          <a:noFill/>
          <a:ln/>
        </p:spPr>
        <p:txBody>
          <a:bodyPr wrap="square" lIns="0" tIns="0" rIns="0" bIns="0" rtlCol="0" anchor="t"/>
          <a:lstStyle/>
          <a:p>
            <a:pPr indent="0" marL="0">
              <a:buNone/>
            </a:pPr>
            <a:r>
              <a:rPr lang="en-US" sz="1800" b="1" dirty="0">
                <a:solidFill>
                  <a:schemeClr val="tx2"/>
                </a:solidFill>
              </a:rPr>
              <a:t>Random Forest</a:t>
            </a:r>
            <a:endParaRPr lang="en-US" sz="1800" dirty="0"/>
          </a:p>
          <a:p>
            <a:pPr indent="0" marL="0">
              <a:buNone/>
            </a:pPr>
            <a:r>
              <a:rPr lang="en-US" sz="1800" dirty="0">
                <a:solidFill>
                  <a:schemeClr val="tx1"/>
                </a:solidFill>
              </a:rPr>
              <a:t>le plus sélectif</a:t>
            </a:r>
            <a:endParaRPr lang="en-US" sz="1800" dirty="0"/>
          </a:p>
          <a:p>
            <a:pPr indent="0" marL="0">
              <a:buNone/>
            </a:pPr>
            <a:r>
              <a:rPr lang="en-US" sz="1800" dirty="0">
                <a:solidFill>
                  <a:schemeClr val="tx1"/>
                </a:solidFill>
              </a:rPr>
              <a:t> </a:t>
            </a:r>
            <a:endParaRPr lang="en-US" sz="1800" dirty="0"/>
          </a:p>
          <a:p>
            <a:pPr indent="0" marL="0">
              <a:buNone/>
            </a:pPr>
            <a:r>
              <a:rPr lang="en-US" sz="1800" b="1" dirty="0">
                <a:solidFill>
                  <a:schemeClr val="tx2"/>
                </a:solidFill>
              </a:rPr>
              <a:t>KNN</a:t>
            </a:r>
            <a:endParaRPr lang="en-US" sz="1800" dirty="0"/>
          </a:p>
          <a:p>
            <a:pPr indent="0" marL="0">
              <a:buNone/>
            </a:pPr>
            <a:r>
              <a:rPr lang="en-US" sz="1800" dirty="0">
                <a:solidFill>
                  <a:schemeClr val="tx1"/>
                </a:solidFill>
              </a:rPr>
              <a:t>le plus sensible, plus de fausses alarmes</a:t>
            </a:r>
            <a:endParaRPr lang="en-US" sz="1800" dirty="0"/>
          </a:p>
        </p:txBody>
      </p:sp>
      <p:sp>
        <p:nvSpPr>
          <p:cNvPr id="7" name="Note"/>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600" dirty="0">
                <a:solidFill>
                  <a:srgbClr val="000000"/>
                </a:solidFill>
              </a:rPr>
              <a:t>Seuil 0,5, appariement strict (recouvrement ≥ 0,3), 9,2 h d'enregistrement. Une fausse alarme peut être une crise non annotée.</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Prévention : un signal faible, pas un système</a:t>
            </a:r>
            <a:endParaRPr lang="en-US" sz="3200" dirty="0"/>
          </a:p>
        </p:txBody>
      </p:sp>
      <p:graphicFrame>
        <p:nvGraphicFramePr>
          <p:cNvPr id="4" name="Chart 0" descr=""/>
          <p:cNvGraphicFramePr/>
          <p:nvPr/>
        </p:nvGraphicFramePr>
        <p:xfrm>
          <a:off x="548640" y="141732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Carte AUC (hasard : 0,50)"/>
          <p:cNvSpPr/>
          <p:nvPr/>
        </p:nvSpPr>
        <p:spPr>
          <a:xfrm>
            <a:off x="7498080" y="1508760"/>
            <a:ext cx="4160520" cy="1280160"/>
          </a:xfrm>
          <a:prstGeom prst="roundRect">
            <a:avLst>
              <a:gd name="adj" fmla="val 8571"/>
            </a:avLst>
          </a:prstGeom>
          <a:solidFill>
            <a:schemeClr val="bg2"/>
          </a:solidFill>
          <a:ln w="9525">
            <a:solidFill>
              <a:srgbClr val="D5DEDC"/>
            </a:solidFill>
            <a:prstDash val="solid"/>
          </a:ln>
        </p:spPr>
      </p:sp>
      <p:sp>
        <p:nvSpPr>
          <p:cNvPr id="6" name="Text 2"/>
          <p:cNvSpPr txBox="1"/>
          <p:nvPr/>
        </p:nvSpPr>
        <p:spPr>
          <a:xfrm>
            <a:off x="7635240" y="1508760"/>
            <a:ext cx="1737360" cy="128016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0,64</a:t>
            </a:r>
            <a:endParaRPr lang="en-US" sz="4000" dirty="0"/>
          </a:p>
        </p:txBody>
      </p:sp>
      <p:sp>
        <p:nvSpPr>
          <p:cNvPr id="7" name="Text 3"/>
          <p:cNvSpPr txBox="1"/>
          <p:nvPr/>
        </p:nvSpPr>
        <p:spPr>
          <a:xfrm>
            <a:off x="9418320" y="1508760"/>
            <a:ext cx="2148840" cy="1280160"/>
          </a:xfrm>
          <a:prstGeom prst="rect">
            <a:avLst/>
          </a:prstGeom>
          <a:noFill/>
          <a:ln/>
        </p:spPr>
        <p:txBody>
          <a:bodyPr wrap="square" lIns="0" tIns="0" rIns="0" bIns="0" rtlCol="0" anchor="ctr"/>
          <a:lstStyle/>
          <a:p>
            <a:pPr indent="0" marL="0">
              <a:buNone/>
            </a:pPr>
            <a:r>
              <a:rPr lang="en-US" sz="1600" dirty="0">
                <a:solidFill>
                  <a:schemeClr val="tx1"/>
                </a:solidFill>
              </a:rPr>
              <a:t>AUC (hasard : 0,50)</a:t>
            </a:r>
            <a:endParaRPr lang="en-US" sz="1600" dirty="0"/>
          </a:p>
        </p:txBody>
      </p:sp>
      <p:sp>
        <p:nvSpPr>
          <p:cNvPr id="8" name="Carte Balanced Accuracy"/>
          <p:cNvSpPr/>
          <p:nvPr/>
        </p:nvSpPr>
        <p:spPr>
          <a:xfrm>
            <a:off x="7498080" y="2926080"/>
            <a:ext cx="4160520" cy="1280160"/>
          </a:xfrm>
          <a:prstGeom prst="roundRect">
            <a:avLst>
              <a:gd name="adj" fmla="val 8571"/>
            </a:avLst>
          </a:prstGeom>
          <a:solidFill>
            <a:schemeClr val="bg2"/>
          </a:solidFill>
          <a:ln w="9525">
            <a:solidFill>
              <a:srgbClr val="D5DEDC"/>
            </a:solidFill>
            <a:prstDash val="solid"/>
          </a:ln>
        </p:spPr>
      </p:sp>
      <p:sp>
        <p:nvSpPr>
          <p:cNvPr id="9" name="Text 5"/>
          <p:cNvSpPr txBox="1"/>
          <p:nvPr/>
        </p:nvSpPr>
        <p:spPr>
          <a:xfrm>
            <a:off x="7635240" y="2926080"/>
            <a:ext cx="1737360" cy="12801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0,55</a:t>
            </a:r>
            <a:endParaRPr lang="en-US" sz="4000" dirty="0"/>
          </a:p>
        </p:txBody>
      </p:sp>
      <p:sp>
        <p:nvSpPr>
          <p:cNvPr id="10" name="Text 6"/>
          <p:cNvSpPr txBox="1"/>
          <p:nvPr/>
        </p:nvSpPr>
        <p:spPr>
          <a:xfrm>
            <a:off x="9418320" y="2926080"/>
            <a:ext cx="2148840" cy="1280160"/>
          </a:xfrm>
          <a:prstGeom prst="rect">
            <a:avLst/>
          </a:prstGeom>
          <a:noFill/>
          <a:ln/>
        </p:spPr>
        <p:txBody>
          <a:bodyPr wrap="square" lIns="0" tIns="0" rIns="0" bIns="0" rtlCol="0" anchor="ctr"/>
          <a:lstStyle/>
          <a:p>
            <a:pPr indent="0" marL="0">
              <a:buNone/>
            </a:pPr>
            <a:r>
              <a:rPr lang="en-US" sz="1600" dirty="0">
                <a:solidFill>
                  <a:schemeClr val="tx1"/>
                </a:solidFill>
              </a:rPr>
              <a:t>Balanced Accuracy</a:t>
            </a:r>
            <a:endParaRPr lang="en-US" sz="1600" dirty="0"/>
          </a:p>
        </p:txBody>
      </p:sp>
      <p:sp>
        <p:nvSpPr>
          <p:cNvPr id="11" name="Carte patients au-dessus du hasard"/>
          <p:cNvSpPr/>
          <p:nvPr/>
        </p:nvSpPr>
        <p:spPr>
          <a:xfrm>
            <a:off x="7498080" y="4343400"/>
            <a:ext cx="4160520" cy="1280160"/>
          </a:xfrm>
          <a:prstGeom prst="roundRect">
            <a:avLst>
              <a:gd name="adj" fmla="val 8571"/>
            </a:avLst>
          </a:prstGeom>
          <a:solidFill>
            <a:schemeClr val="bg2"/>
          </a:solidFill>
          <a:ln w="9525">
            <a:solidFill>
              <a:srgbClr val="D5DEDC"/>
            </a:solidFill>
            <a:prstDash val="solid"/>
          </a:ln>
        </p:spPr>
      </p:sp>
      <p:sp>
        <p:nvSpPr>
          <p:cNvPr id="12" name="Text 8"/>
          <p:cNvSpPr txBox="1"/>
          <p:nvPr/>
        </p:nvSpPr>
        <p:spPr>
          <a:xfrm>
            <a:off x="7635240" y="4343400"/>
            <a:ext cx="1737360" cy="128016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17/19</a:t>
            </a:r>
            <a:endParaRPr lang="en-US" sz="4000" dirty="0"/>
          </a:p>
        </p:txBody>
      </p:sp>
      <p:sp>
        <p:nvSpPr>
          <p:cNvPr id="13" name="Text 9"/>
          <p:cNvSpPr txBox="1"/>
          <p:nvPr/>
        </p:nvSpPr>
        <p:spPr>
          <a:xfrm>
            <a:off x="9418320" y="4343400"/>
            <a:ext cx="2148840" cy="1280160"/>
          </a:xfrm>
          <a:prstGeom prst="rect">
            <a:avLst/>
          </a:prstGeom>
          <a:noFill/>
          <a:ln/>
        </p:spPr>
        <p:txBody>
          <a:bodyPr wrap="square" lIns="0" tIns="0" rIns="0" bIns="0" rtlCol="0" anchor="ctr"/>
          <a:lstStyle/>
          <a:p>
            <a:pPr indent="0" marL="0">
              <a:buNone/>
            </a:pPr>
            <a:r>
              <a:rPr lang="en-US" sz="1600" dirty="0">
                <a:solidFill>
                  <a:schemeClr val="tx1"/>
                </a:solidFill>
              </a:rPr>
              <a:t>patients au-dessus du hasard</a:t>
            </a:r>
            <a:endParaRPr lang="en-US" sz="1600" dirty="0"/>
          </a:p>
        </p:txBody>
      </p:sp>
      <p:sp>
        <p:nvSpPr>
          <p:cNvPr id="14" name="Conclusion"/>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800" b="1" dirty="0">
                <a:solidFill>
                  <a:schemeClr val="tx2"/>
                </a:solidFill>
              </a:rPr>
              <a:t>Mieux que le hasard, mais trop faible pour déclencher une alerte fiable.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Limites que nous assumons</a:t>
            </a:r>
            <a:endParaRPr lang="en-US" sz="3200" dirty="0"/>
          </a:p>
        </p:txBody>
      </p:sp>
      <p:sp>
        <p:nvSpPr>
          <p:cNvPr id="4" name="Carte 82 crises, 19 patients avec crises"/>
          <p:cNvSpPr/>
          <p:nvPr/>
        </p:nvSpPr>
        <p:spPr>
          <a:xfrm>
            <a:off x="548640" y="1463040"/>
            <a:ext cx="5394960" cy="2011680"/>
          </a:xfrm>
          <a:prstGeom prst="roundRect">
            <a:avLst>
              <a:gd name="adj" fmla="val 5455"/>
            </a:avLst>
          </a:prstGeom>
          <a:solidFill>
            <a:schemeClr val="bg2"/>
          </a:solidFill>
          <a:ln w="9525">
            <a:solidFill>
              <a:srgbClr val="D5DEDC"/>
            </a:solidFill>
            <a:prstDash val="solid"/>
          </a:ln>
        </p:spPr>
      </p:sp>
      <p:sp>
        <p:nvSpPr>
          <p:cNvPr id="5" name="Text 2"/>
          <p:cNvSpPr txBox="1"/>
          <p:nvPr/>
        </p:nvSpPr>
        <p:spPr>
          <a:xfrm>
            <a:off x="822960" y="1645920"/>
            <a:ext cx="484632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82 crises, 19 patients avec crises</a:t>
            </a:r>
            <a:endParaRPr lang="en-US" sz="2000" dirty="0"/>
          </a:p>
        </p:txBody>
      </p:sp>
      <p:sp>
        <p:nvSpPr>
          <p:cNvPr id="6" name="Text 3"/>
          <p:cNvSpPr txBox="1"/>
          <p:nvPr/>
        </p:nvSpPr>
        <p:spPr>
          <a:xfrm>
            <a:off x="822960" y="2240280"/>
            <a:ext cx="4846320" cy="1097280"/>
          </a:xfrm>
          <a:prstGeom prst="rect">
            <a:avLst/>
          </a:prstGeom>
          <a:noFill/>
          <a:ln/>
        </p:spPr>
        <p:txBody>
          <a:bodyPr wrap="square" lIns="0" tIns="0" rIns="0" bIns="0" rtlCol="0" anchor="t"/>
          <a:lstStyle/>
          <a:p>
            <a:pPr indent="0" marL="0">
              <a:buNone/>
            </a:pPr>
            <a:r>
              <a:rPr lang="en-US" sz="1600" dirty="0">
                <a:solidFill>
                  <a:schemeClr val="tx1"/>
                </a:solidFill>
              </a:rPr>
              <a:t>Les intervalles de confiance sont larges : RF, KNN et SVM ne sont pas statistiquement distinguables.</a:t>
            </a:r>
            <a:endParaRPr lang="en-US" sz="1600" dirty="0"/>
          </a:p>
        </p:txBody>
      </p:sp>
      <p:sp>
        <p:nvSpPr>
          <p:cNvPr id="7" name="Carte Étiquettes probablement incomplètes"/>
          <p:cNvSpPr/>
          <p:nvPr/>
        </p:nvSpPr>
        <p:spPr>
          <a:xfrm>
            <a:off x="6217920" y="1463040"/>
            <a:ext cx="5394960" cy="2011680"/>
          </a:xfrm>
          <a:prstGeom prst="roundRect">
            <a:avLst>
              <a:gd name="adj" fmla="val 5455"/>
            </a:avLst>
          </a:prstGeom>
          <a:solidFill>
            <a:schemeClr val="bg2"/>
          </a:solidFill>
          <a:ln w="9525">
            <a:solidFill>
              <a:srgbClr val="D5DEDC"/>
            </a:solidFill>
            <a:prstDash val="solid"/>
          </a:ln>
        </p:spPr>
      </p:sp>
      <p:sp>
        <p:nvSpPr>
          <p:cNvPr id="8" name="Text 5"/>
          <p:cNvSpPr txBox="1"/>
          <p:nvPr/>
        </p:nvSpPr>
        <p:spPr>
          <a:xfrm>
            <a:off x="6492240" y="1645920"/>
            <a:ext cx="484632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Étiquettes probablement incomplètes</a:t>
            </a:r>
            <a:endParaRPr lang="en-US" sz="2000" dirty="0"/>
          </a:p>
        </p:txBody>
      </p:sp>
      <p:sp>
        <p:nvSpPr>
          <p:cNvPr id="9" name="Text 6"/>
          <p:cNvSpPr txBox="1"/>
          <p:nvPr/>
        </p:nvSpPr>
        <p:spPr>
          <a:xfrm>
            <a:off x="6492240" y="2240280"/>
            <a:ext cx="4846320" cy="1097280"/>
          </a:xfrm>
          <a:prstGeom prst="rect">
            <a:avLst/>
          </a:prstGeom>
          <a:noFill/>
          <a:ln/>
        </p:spPr>
        <p:txBody>
          <a:bodyPr wrap="square" lIns="0" tIns="0" rIns="0" bIns="0" rtlCol="0" anchor="t"/>
          <a:lstStyle/>
          <a:p>
            <a:pPr indent="0" marL="0">
              <a:buNone/>
            </a:pPr>
            <a:r>
              <a:rPr lang="en-US" sz="1600" dirty="0">
                <a:solidFill>
                  <a:schemeClr val="tx1"/>
                </a:solidFill>
              </a:rPr>
              <a:t>210208B_G : 3 salves visibles sans annotation. Une fausse alarme est parfois une vraie crise.</a:t>
            </a:r>
            <a:endParaRPr lang="en-US" sz="1600" dirty="0"/>
          </a:p>
        </p:txBody>
      </p:sp>
      <p:sp>
        <p:nvSpPr>
          <p:cNvPr id="10" name="Carte Le split stratifié est optimiste"/>
          <p:cNvSpPr/>
          <p:nvPr/>
        </p:nvSpPr>
        <p:spPr>
          <a:xfrm>
            <a:off x="548640" y="3703320"/>
            <a:ext cx="5394960" cy="2011680"/>
          </a:xfrm>
          <a:prstGeom prst="roundRect">
            <a:avLst>
              <a:gd name="adj" fmla="val 5455"/>
            </a:avLst>
          </a:prstGeom>
          <a:solidFill>
            <a:schemeClr val="bg2"/>
          </a:solidFill>
          <a:ln w="9525">
            <a:solidFill>
              <a:srgbClr val="D5DEDC"/>
            </a:solidFill>
            <a:prstDash val="solid"/>
          </a:ln>
        </p:spPr>
      </p:sp>
      <p:sp>
        <p:nvSpPr>
          <p:cNvPr id="11" name="Text 8"/>
          <p:cNvSpPr txBox="1"/>
          <p:nvPr/>
        </p:nvSpPr>
        <p:spPr>
          <a:xfrm>
            <a:off x="822960" y="3886200"/>
            <a:ext cx="484632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Le split stratifié est optimiste</a:t>
            </a:r>
            <a:endParaRPr lang="en-US" sz="2000" dirty="0"/>
          </a:p>
        </p:txBody>
      </p:sp>
      <p:sp>
        <p:nvSpPr>
          <p:cNvPr id="12" name="Text 9"/>
          <p:cNvSpPr txBox="1"/>
          <p:nvPr/>
        </p:nvSpPr>
        <p:spPr>
          <a:xfrm>
            <a:off x="822960" y="4480560"/>
            <a:ext cx="4846320" cy="1097280"/>
          </a:xfrm>
          <a:prstGeom prst="rect">
            <a:avLst/>
          </a:prstGeom>
          <a:noFill/>
          <a:ln/>
        </p:spPr>
        <p:txBody>
          <a:bodyPr wrap="square" lIns="0" tIns="0" rIns="0" bIns="0" rtlCol="0" anchor="t"/>
          <a:lstStyle/>
          <a:p>
            <a:pPr indent="0" marL="0">
              <a:buNone/>
            </a:pPr>
            <a:r>
              <a:rPr lang="en-US" sz="1600" dirty="0">
                <a:solidFill>
                  <a:schemeClr val="tx1"/>
                </a:solidFill>
              </a:rPr>
              <a:t>Fenêtres voisines dans le train et le test : on présente aussi le protocole par patient.</a:t>
            </a:r>
            <a:endParaRPr lang="en-US" sz="1600" dirty="0"/>
          </a:p>
        </p:txBody>
      </p:sp>
      <p:sp>
        <p:nvSpPr>
          <p:cNvPr id="13" name="Carte Réglages peu optimisés"/>
          <p:cNvSpPr/>
          <p:nvPr/>
        </p:nvSpPr>
        <p:spPr>
          <a:xfrm>
            <a:off x="6217920" y="3703320"/>
            <a:ext cx="5394960" cy="2011680"/>
          </a:xfrm>
          <a:prstGeom prst="roundRect">
            <a:avLst>
              <a:gd name="adj" fmla="val 5455"/>
            </a:avLst>
          </a:prstGeom>
          <a:solidFill>
            <a:schemeClr val="bg2"/>
          </a:solidFill>
          <a:ln w="9525">
            <a:solidFill>
              <a:srgbClr val="D5DEDC"/>
            </a:solidFill>
            <a:prstDash val="solid"/>
          </a:ln>
        </p:spPr>
      </p:sp>
      <p:sp>
        <p:nvSpPr>
          <p:cNvPr id="14" name="Text 11"/>
          <p:cNvSpPr txBox="1"/>
          <p:nvPr/>
        </p:nvSpPr>
        <p:spPr>
          <a:xfrm>
            <a:off x="6492240" y="3886200"/>
            <a:ext cx="484632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Réglages peu optimisés</a:t>
            </a:r>
            <a:endParaRPr lang="en-US" sz="2000" dirty="0"/>
          </a:p>
        </p:txBody>
      </p:sp>
      <p:sp>
        <p:nvSpPr>
          <p:cNvPr id="15" name="Text 12"/>
          <p:cNvSpPr txBox="1"/>
          <p:nvPr/>
        </p:nvSpPr>
        <p:spPr>
          <a:xfrm>
            <a:off x="6492240" y="4480560"/>
            <a:ext cx="4846320" cy="1097280"/>
          </a:xfrm>
          <a:prstGeom prst="rect">
            <a:avLst/>
          </a:prstGeom>
          <a:noFill/>
          <a:ln/>
        </p:spPr>
        <p:txBody>
          <a:bodyPr wrap="square" lIns="0" tIns="0" rIns="0" bIns="0" rtlCol="0" anchor="t"/>
          <a:lstStyle/>
          <a:p>
            <a:pPr indent="0" marL="0">
              <a:buNone/>
            </a:pPr>
            <a:r>
              <a:rPr lang="en-US" sz="1600" dirty="0">
                <a:solidFill>
                  <a:schemeClr val="tx1"/>
                </a:solidFill>
              </a:rPr>
              <a:t>Hyperparamètres testés en exploration, seuil appris légèrement optimiste dans le cas par patient.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re"/>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Conclusion et perspectives</a:t>
            </a:r>
            <a:endParaRPr lang="en-US" sz="3200" dirty="0"/>
          </a:p>
        </p:txBody>
      </p:sp>
      <p:sp>
        <p:nvSpPr>
          <p:cNvPr id="4" name="Text 1"/>
          <p:cNvSpPr txBox="1"/>
          <p:nvPr/>
        </p:nvSpPr>
        <p:spPr>
          <a:xfrm>
            <a:off x="548640" y="1417320"/>
            <a:ext cx="539496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Ce que nous avons montré</a:t>
            </a:r>
            <a:endParaRPr lang="en-US" sz="2200" dirty="0"/>
          </a:p>
        </p:txBody>
      </p:sp>
      <p:sp>
        <p:nvSpPr>
          <p:cNvPr id="5" name="Acquis"/>
          <p:cNvSpPr txBox="1"/>
          <p:nvPr/>
        </p:nvSpPr>
        <p:spPr>
          <a:xfrm>
            <a:off x="548640" y="1965960"/>
            <a:ext cx="5394960" cy="39319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Une chaîne complète, du signal brut aux intervalles de crise</a:t>
            </a:r>
            <a:endParaRPr lang="en-US" sz="1800" dirty="0"/>
          </a:p>
          <a:p>
            <a:pPr marL="342900" indent="-342900">
              <a:spcAft>
                <a:spcPts val="1200"/>
              </a:spcAft>
              <a:buSzPct val="100000"/>
              <a:buChar char="•"/>
            </a:pPr>
            <a:r>
              <a:rPr lang="en-US" sz="1800" dirty="0">
                <a:solidFill>
                  <a:schemeClr val="bg1"/>
                </a:solidFill>
              </a:rPr>
              <a:t>Une évaluation honnête : deux protocoles, Balanced Accuracy</a:t>
            </a:r>
            <a:endParaRPr lang="en-US" sz="1800" dirty="0"/>
          </a:p>
          <a:p>
            <a:pPr marL="342900" indent="-342900">
              <a:spcAft>
                <a:spcPts val="1200"/>
              </a:spcAft>
              <a:buSzPct val="100000"/>
              <a:buChar char="•"/>
            </a:pPr>
            <a:r>
              <a:rPr lang="en-US" sz="1800" dirty="0">
                <a:solidFill>
                  <a:schemeClr val="bg1"/>
                </a:solidFill>
              </a:rPr>
              <a:t>Augmentation et seuil appris : les modèles se rapprochent</a:t>
            </a:r>
            <a:endParaRPr lang="en-US" sz="1800" dirty="0"/>
          </a:p>
          <a:p>
            <a:pPr marL="342900" indent="-342900">
              <a:spcAft>
                <a:spcPts val="1200"/>
              </a:spcAft>
              <a:buSzPct val="100000"/>
              <a:buChar char="•"/>
            </a:pPr>
            <a:r>
              <a:rPr lang="en-US" sz="1800" dirty="0">
                <a:solidFill>
                  <a:schemeClr val="bg1"/>
                </a:solidFill>
              </a:rPr>
              <a:t>Random Forest : 68 crises sur 82 et 4 fausses alarmes par heure</a:t>
            </a:r>
            <a:endParaRPr lang="en-US" sz="1800" dirty="0"/>
          </a:p>
          <a:p>
            <a:pPr marL="342900" indent="-342900">
              <a:spcAft>
                <a:spcPts val="1200"/>
              </a:spcAft>
              <a:buSzPct val="100000"/>
              <a:buChar char="•"/>
            </a:pPr>
            <a:r>
              <a:rPr lang="en-US" sz="1800" dirty="0">
                <a:solidFill>
                  <a:schemeClr val="bg1"/>
                </a:solidFill>
              </a:rPr>
              <a:t>Prévention : un signal faible, à explorer</a:t>
            </a:r>
            <a:endParaRPr lang="en-US" sz="1800" dirty="0"/>
          </a:p>
        </p:txBody>
      </p:sp>
      <p:sp>
        <p:nvSpPr>
          <p:cNvPr id="6" name="Text 3"/>
          <p:cNvSpPr txBox="1"/>
          <p:nvPr/>
        </p:nvSpPr>
        <p:spPr>
          <a:xfrm>
            <a:off x="6309360" y="1417320"/>
            <a:ext cx="530352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Perspectives</a:t>
            </a:r>
            <a:endParaRPr lang="en-US" sz="2200" dirty="0"/>
          </a:p>
        </p:txBody>
      </p:sp>
      <p:sp>
        <p:nvSpPr>
          <p:cNvPr id="7" name="Perspectives"/>
          <p:cNvSpPr txBox="1"/>
          <p:nvPr/>
        </p:nvSpPr>
        <p:spPr>
          <a:xfrm>
            <a:off x="6309360" y="1965960"/>
            <a:ext cx="5303520" cy="39319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Faire valider les étiquettes par un expert</a:t>
            </a:r>
            <a:endParaRPr lang="en-US" sz="1800" dirty="0"/>
          </a:p>
          <a:p>
            <a:pPr marL="342900" indent="-342900">
              <a:spcAft>
                <a:spcPts val="1200"/>
              </a:spcAft>
              <a:buSzPct val="100000"/>
              <a:buChar char="•"/>
            </a:pPr>
            <a:r>
              <a:rPr lang="en-US" sz="1800" dirty="0">
                <a:solidFill>
                  <a:schemeClr val="bg1"/>
                </a:solidFill>
              </a:rPr>
              <a:t>Plus de patients et de crises</a:t>
            </a:r>
            <a:endParaRPr lang="en-US" sz="1800" dirty="0"/>
          </a:p>
          <a:p>
            <a:pPr marL="342900" indent="-342900">
              <a:spcAft>
                <a:spcPts val="1200"/>
              </a:spcAft>
              <a:buSzPct val="100000"/>
              <a:buChar char="•"/>
            </a:pPr>
            <a:r>
              <a:rPr lang="en-US" sz="1800" dirty="0">
                <a:solidFill>
                  <a:schemeClr val="bg1"/>
                </a:solidFill>
              </a:rPr>
              <a:t>Validation imbriquée par patient</a:t>
            </a:r>
            <a:endParaRPr lang="en-US" sz="1800" dirty="0"/>
          </a:p>
          <a:p>
            <a:pPr marL="342900" indent="-342900">
              <a:spcAft>
                <a:spcPts val="1200"/>
              </a:spcAft>
              <a:buSzPct val="100000"/>
              <a:buChar char="•"/>
            </a:pPr>
            <a:r>
              <a:rPr lang="en-US" sz="1800" dirty="0">
                <a:solidFill>
                  <a:schemeClr val="bg1"/>
                </a:solidFill>
              </a:rPr>
              <a:t>Features inter-canaux, réseau 1D sur le signal brut</a:t>
            </a:r>
            <a:endParaRPr lang="en-US" sz="1800" dirty="0"/>
          </a:p>
          <a:p>
            <a:pPr marL="342900" indent="-342900">
              <a:spcAft>
                <a:spcPts val="1200"/>
              </a:spcAft>
              <a:buSzPct val="100000"/>
              <a:buChar char="•"/>
            </a:pPr>
            <a:r>
              <a:rPr lang="en-US" sz="1800" dirty="0">
                <a:solidFill>
                  <a:schemeClr val="bg1"/>
                </a:solidFill>
              </a:rPr>
              <a:t>Prévention : suivi sur plusieurs fenêtres, ECG</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EG Absence">
  <a:themeElements>
    <a:clrScheme name="EEG Absence">
      <a:dk1>
        <a:srgbClr val="222B32"/>
      </a:dk1>
      <a:lt1>
        <a:srgbClr val="FFFFFF"/>
      </a:lt1>
      <a:dk2>
        <a:srgbClr val="14505C"/>
      </a:dk2>
      <a:lt2>
        <a:srgbClr val="EEF3F2"/>
      </a:lt2>
      <a:accent1>
        <a:srgbClr val="14505C"/>
      </a:accent1>
      <a:accent2>
        <a:srgbClr val="C65D4E"/>
      </a:accent2>
      <a:accent3>
        <a:srgbClr val="D8A23E"/>
      </a:accent3>
      <a:accent4>
        <a:srgbClr val="7FA593"/>
      </a:accent4>
      <a:accent5>
        <a:srgbClr val="8FA6B0"/>
      </a:accent5>
      <a:accent6>
        <a:srgbClr val="B07A3A"/>
      </a:accent6>
      <a:hlink>
        <a:srgbClr val="14505C"/>
      </a:hlink>
      <a:folHlink>
        <a:srgbClr val="58636D"/>
      </a:folHlink>
    </a:clrScheme>
    <a:fontScheme name="EEG Abs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des crises d'absence par EEG - Soutenance</dc:title>
  <dc:subject>PptxGenJS Presentation</dc:subject>
  <dc:creator>Projet Data Mining 3AINFO</dc:creator>
  <cp:lastModifiedBy>Projet Data Mining 3AINFO</cp:lastModifiedBy>
  <cp:revision>1</cp:revision>
  <dcterms:created xsi:type="dcterms:W3CDTF">2026-10-16T22:12:08Z</dcterms:created>
  <dcterms:modified xsi:type="dcterms:W3CDTF">2026-10-16T22:12:08Z</dcterms:modified>
</cp:coreProperties>
</file>